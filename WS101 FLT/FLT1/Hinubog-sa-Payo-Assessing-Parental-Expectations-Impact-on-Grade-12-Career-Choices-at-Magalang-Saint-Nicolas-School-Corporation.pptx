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Montserrat Bold" charset="1" panose="00000800000000000000"/>
      <p:regular r:id="rId26"/>
    </p:embeddedFont>
    <p:embeddedFont>
      <p:font typeface="Roboto Mono Bold" charset="1" panose="00000000000000000000"/>
      <p:regular r:id="rId27"/>
    </p:embeddedFont>
    <p:embeddedFont>
      <p:font typeface="Arial" charset="1" panose="020B0502020202020204"/>
      <p:regular r:id="rId28"/>
    </p:embeddedFont>
    <p:embeddedFont>
      <p:font typeface="Canva Sans Bold" charset="1" panose="020B0803030501040103"/>
      <p:regular r:id="rId29"/>
    </p:embeddedFont>
    <p:embeddedFont>
      <p:font typeface="Canva Sans" charset="1" panose="020B05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6543606" cy="10287000"/>
            <a:chOff x="0" y="0"/>
            <a:chExt cx="4357164" cy="2709333"/>
          </a:xfrm>
        </p:grpSpPr>
        <p:sp>
          <p:nvSpPr>
            <p:cNvPr name="Freeform 3" id="3"/>
            <p:cNvSpPr/>
            <p:nvPr/>
          </p:nvSpPr>
          <p:spPr>
            <a:xfrm flipH="false" flipV="false" rot="0">
              <a:off x="0" y="0"/>
              <a:ext cx="4357164" cy="2709333"/>
            </a:xfrm>
            <a:custGeom>
              <a:avLst/>
              <a:gdLst/>
              <a:ahLst/>
              <a:cxnLst/>
              <a:rect r="r" b="b" t="t" l="l"/>
              <a:pathLst>
                <a:path h="2709333" w="4357164">
                  <a:moveTo>
                    <a:pt x="0" y="0"/>
                  </a:moveTo>
                  <a:lnTo>
                    <a:pt x="4357164" y="0"/>
                  </a:lnTo>
                  <a:lnTo>
                    <a:pt x="4357164" y="2709333"/>
                  </a:lnTo>
                  <a:lnTo>
                    <a:pt x="0" y="2709333"/>
                  </a:lnTo>
                  <a:close/>
                </a:path>
              </a:pathLst>
            </a:custGeom>
            <a:gradFill rotWithShape="true">
              <a:gsLst>
                <a:gs pos="0">
                  <a:srgbClr val="A6A6A6">
                    <a:alpha val="100000"/>
                  </a:srgbClr>
                </a:gs>
                <a:gs pos="100000">
                  <a:srgbClr val="FFFFFF">
                    <a:alpha val="4000"/>
                  </a:srgbClr>
                </a:gs>
              </a:gsLst>
              <a:lin ang="0"/>
            </a:gradFill>
          </p:spPr>
        </p:sp>
        <p:sp>
          <p:nvSpPr>
            <p:cNvPr name="TextBox 4" id="4"/>
            <p:cNvSpPr txBox="true"/>
            <p:nvPr/>
          </p:nvSpPr>
          <p:spPr>
            <a:xfrm>
              <a:off x="0" y="-38100"/>
              <a:ext cx="4357164" cy="2747433"/>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0" y="586845"/>
            <a:ext cx="8010711" cy="9700155"/>
          </a:xfrm>
          <a:custGeom>
            <a:avLst/>
            <a:gdLst/>
            <a:ahLst/>
            <a:cxnLst/>
            <a:rect r="r" b="b" t="t" l="l"/>
            <a:pathLst>
              <a:path h="9700155" w="8010711">
                <a:moveTo>
                  <a:pt x="0" y="0"/>
                </a:moveTo>
                <a:lnTo>
                  <a:pt x="8010711" y="0"/>
                </a:lnTo>
                <a:lnTo>
                  <a:pt x="8010711" y="9700155"/>
                </a:lnTo>
                <a:lnTo>
                  <a:pt x="0" y="97001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654358" y="318893"/>
            <a:ext cx="418011" cy="1732690"/>
          </a:xfrm>
          <a:custGeom>
            <a:avLst/>
            <a:gdLst/>
            <a:ahLst/>
            <a:cxnLst/>
            <a:rect r="r" b="b" t="t" l="l"/>
            <a:pathLst>
              <a:path h="1732690" w="418011">
                <a:moveTo>
                  <a:pt x="0" y="0"/>
                </a:moveTo>
                <a:lnTo>
                  <a:pt x="418011" y="0"/>
                </a:lnTo>
                <a:lnTo>
                  <a:pt x="418011" y="1732690"/>
                </a:lnTo>
                <a:lnTo>
                  <a:pt x="0" y="173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3910560" y="8935670"/>
            <a:ext cx="3743798" cy="645261"/>
            <a:chOff x="0" y="0"/>
            <a:chExt cx="986021" cy="169945"/>
          </a:xfrm>
        </p:grpSpPr>
        <p:sp>
          <p:nvSpPr>
            <p:cNvPr name="Freeform 8" id="8"/>
            <p:cNvSpPr/>
            <p:nvPr/>
          </p:nvSpPr>
          <p:spPr>
            <a:xfrm flipH="false" flipV="false" rot="0">
              <a:off x="0" y="0"/>
              <a:ext cx="986021" cy="169945"/>
            </a:xfrm>
            <a:custGeom>
              <a:avLst/>
              <a:gdLst/>
              <a:ahLst/>
              <a:cxnLst/>
              <a:rect r="r" b="b" t="t" l="l"/>
              <a:pathLst>
                <a:path h="169945" w="986021">
                  <a:moveTo>
                    <a:pt x="0" y="0"/>
                  </a:moveTo>
                  <a:lnTo>
                    <a:pt x="986021" y="0"/>
                  </a:lnTo>
                  <a:lnTo>
                    <a:pt x="986021" y="169945"/>
                  </a:lnTo>
                  <a:lnTo>
                    <a:pt x="0" y="169945"/>
                  </a:lnTo>
                  <a:close/>
                </a:path>
              </a:pathLst>
            </a:custGeom>
            <a:solidFill>
              <a:srgbClr val="686D76"/>
            </a:solidFill>
          </p:spPr>
        </p:sp>
        <p:sp>
          <p:nvSpPr>
            <p:cNvPr name="TextBox 9" id="9"/>
            <p:cNvSpPr txBox="true"/>
            <p:nvPr/>
          </p:nvSpPr>
          <p:spPr>
            <a:xfrm>
              <a:off x="0" y="-38100"/>
              <a:ext cx="986021" cy="208045"/>
            </a:xfrm>
            <a:prstGeom prst="rect">
              <a:avLst/>
            </a:prstGeom>
          </p:spPr>
          <p:txBody>
            <a:bodyPr anchor="ctr" rtlCol="false" tIns="50800" lIns="50800" bIns="50800" rIns="50800"/>
            <a:lstStyle/>
            <a:p>
              <a:pPr algn="ctr">
                <a:lnSpc>
                  <a:spcPts val="3080"/>
                </a:lnSpc>
              </a:pPr>
              <a:r>
                <a:rPr lang="en-US" b="true" sz="2200" spc="220">
                  <a:solidFill>
                    <a:srgbClr val="FFFFFF"/>
                  </a:solidFill>
                  <a:latin typeface="Montserrat Bold"/>
                  <a:ea typeface="Montserrat Bold"/>
                  <a:cs typeface="Montserrat Bold"/>
                  <a:sym typeface="Montserrat Bold"/>
                </a:rPr>
                <a:t>17 MARCH, 2025</a:t>
              </a:r>
            </a:p>
          </p:txBody>
        </p:sp>
      </p:grpSp>
      <p:sp>
        <p:nvSpPr>
          <p:cNvPr name="TextBox 10" id="10"/>
          <p:cNvSpPr txBox="true"/>
          <p:nvPr/>
        </p:nvSpPr>
        <p:spPr>
          <a:xfrm rot="0">
            <a:off x="3048772" y="2724666"/>
            <a:ext cx="14605586" cy="2179121"/>
          </a:xfrm>
          <a:prstGeom prst="rect">
            <a:avLst/>
          </a:prstGeom>
        </p:spPr>
        <p:txBody>
          <a:bodyPr anchor="t" rtlCol="false" tIns="0" lIns="0" bIns="0" rIns="0">
            <a:spAutoFit/>
          </a:bodyPr>
          <a:lstStyle/>
          <a:p>
            <a:pPr algn="ctr" marL="0" indent="0" lvl="0">
              <a:lnSpc>
                <a:spcPts val="4204"/>
              </a:lnSpc>
            </a:pPr>
            <a:r>
              <a:rPr lang="en-US" b="true" sz="4425" spc="177">
                <a:solidFill>
                  <a:srgbClr val="000000"/>
                </a:solidFill>
                <a:latin typeface="Roboto Mono Bold"/>
                <a:ea typeface="Roboto Mono Bold"/>
                <a:cs typeface="Roboto Mono Bold"/>
                <a:sym typeface="Roboto Mono Bold"/>
              </a:rPr>
              <a:t>HINUBOG SA PAYO: ASSESSING PARENTAL EXPECTATIONS' IMPACT ON GRADE 12 CAREER CHOICES AT MAGALANG SAINT NICOLAS SCHOOL CORPORATION</a:t>
            </a:r>
          </a:p>
        </p:txBody>
      </p:sp>
      <p:sp>
        <p:nvSpPr>
          <p:cNvPr name="TextBox 11" id="11"/>
          <p:cNvSpPr txBox="true"/>
          <p:nvPr/>
        </p:nvSpPr>
        <p:spPr>
          <a:xfrm rot="0">
            <a:off x="4856103" y="5398823"/>
            <a:ext cx="11364784" cy="2910377"/>
          </a:xfrm>
          <a:prstGeom prst="rect">
            <a:avLst/>
          </a:prstGeom>
        </p:spPr>
        <p:txBody>
          <a:bodyPr anchor="t" rtlCol="false" tIns="0" lIns="0" bIns="0" rIns="0">
            <a:spAutoFit/>
          </a:bodyPr>
          <a:lstStyle/>
          <a:p>
            <a:pPr algn="ctr">
              <a:lnSpc>
                <a:spcPts val="3360"/>
              </a:lnSpc>
            </a:pPr>
            <a:r>
              <a:rPr lang="en-US" b="true" sz="2400" spc="240">
                <a:solidFill>
                  <a:srgbClr val="000000"/>
                </a:solidFill>
                <a:latin typeface="Montserrat Bold"/>
                <a:ea typeface="Montserrat Bold"/>
                <a:cs typeface="Montserrat Bold"/>
                <a:sym typeface="Montserrat Bold"/>
              </a:rPr>
              <a:t>BALUYUT, NICOLE PANLICAN</a:t>
            </a:r>
          </a:p>
          <a:p>
            <a:pPr algn="ctr">
              <a:lnSpc>
                <a:spcPts val="3360"/>
              </a:lnSpc>
            </a:pPr>
            <a:r>
              <a:rPr lang="en-US" b="true" sz="2400" spc="240">
                <a:solidFill>
                  <a:srgbClr val="000000"/>
                </a:solidFill>
                <a:latin typeface="Montserrat Bold"/>
                <a:ea typeface="Montserrat Bold"/>
                <a:cs typeface="Montserrat Bold"/>
                <a:sym typeface="Montserrat Bold"/>
              </a:rPr>
              <a:t>Ferrer, Trisha May </a:t>
            </a:r>
          </a:p>
          <a:p>
            <a:pPr algn="ctr">
              <a:lnSpc>
                <a:spcPts val="3360"/>
              </a:lnSpc>
            </a:pPr>
            <a:r>
              <a:rPr lang="en-US" b="true" sz="2400" spc="240">
                <a:solidFill>
                  <a:srgbClr val="000000"/>
                </a:solidFill>
                <a:latin typeface="Montserrat Bold"/>
                <a:ea typeface="Montserrat Bold"/>
                <a:cs typeface="Montserrat Bold"/>
                <a:sym typeface="Montserrat Bold"/>
              </a:rPr>
              <a:t>FLORES, TRACY ANN TANGLAO</a:t>
            </a:r>
          </a:p>
          <a:p>
            <a:pPr algn="ctr">
              <a:lnSpc>
                <a:spcPts val="3360"/>
              </a:lnSpc>
            </a:pPr>
            <a:r>
              <a:rPr lang="en-US" b="true" sz="2400" spc="240">
                <a:solidFill>
                  <a:srgbClr val="000000"/>
                </a:solidFill>
                <a:latin typeface="Montserrat Bold"/>
                <a:ea typeface="Montserrat Bold"/>
                <a:cs typeface="Montserrat Bold"/>
                <a:sym typeface="Montserrat Bold"/>
              </a:rPr>
              <a:t>GONZALES, SAMANTHA MANGILIMAN</a:t>
            </a:r>
          </a:p>
          <a:p>
            <a:pPr algn="ctr">
              <a:lnSpc>
                <a:spcPts val="3360"/>
              </a:lnSpc>
            </a:pPr>
            <a:r>
              <a:rPr lang="en-US" b="true" sz="2400" spc="240">
                <a:solidFill>
                  <a:srgbClr val="000000"/>
                </a:solidFill>
                <a:latin typeface="Montserrat Bold"/>
                <a:ea typeface="Montserrat Bold"/>
                <a:cs typeface="Montserrat Bold"/>
                <a:sym typeface="Montserrat Bold"/>
              </a:rPr>
              <a:t>Macalino, Jenelle Reyes</a:t>
            </a:r>
          </a:p>
          <a:p>
            <a:pPr algn="ctr">
              <a:lnSpc>
                <a:spcPts val="3360"/>
              </a:lnSpc>
            </a:pPr>
            <a:r>
              <a:rPr lang="en-US" b="true" sz="2400" spc="240">
                <a:solidFill>
                  <a:srgbClr val="000000"/>
                </a:solidFill>
                <a:latin typeface="Montserrat Bold"/>
                <a:ea typeface="Montserrat Bold"/>
                <a:cs typeface="Montserrat Bold"/>
                <a:sym typeface="Montserrat Bold"/>
              </a:rPr>
              <a:t>Raquel, Jashmine Tabora</a:t>
            </a:r>
          </a:p>
          <a:p>
            <a:pPr algn="ctr" marL="0" indent="0" lvl="0">
              <a:lnSpc>
                <a:spcPts val="3360"/>
              </a:lnSpc>
            </a:pPr>
          </a:p>
        </p:txBody>
      </p:sp>
      <p:sp>
        <p:nvSpPr>
          <p:cNvPr name="Freeform 12" id="12"/>
          <p:cNvSpPr/>
          <p:nvPr/>
        </p:nvSpPr>
        <p:spPr>
          <a:xfrm flipH="false" flipV="false" rot="0">
            <a:off x="12779214" y="8692627"/>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18428" y="2880975"/>
            <a:ext cx="8123610" cy="7406025"/>
          </a:xfrm>
          <a:custGeom>
            <a:avLst/>
            <a:gdLst/>
            <a:ahLst/>
            <a:cxnLst/>
            <a:rect r="r" b="b" t="t" l="l"/>
            <a:pathLst>
              <a:path h="7406025" w="8123610">
                <a:moveTo>
                  <a:pt x="0" y="0"/>
                </a:moveTo>
                <a:lnTo>
                  <a:pt x="8123610" y="0"/>
                </a:lnTo>
                <a:lnTo>
                  <a:pt x="8123610" y="7406025"/>
                </a:lnTo>
                <a:lnTo>
                  <a:pt x="0" y="74060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048520" y="0"/>
            <a:ext cx="1298512" cy="4569961"/>
            <a:chOff x="0" y="0"/>
            <a:chExt cx="341995" cy="1203611"/>
          </a:xfrm>
        </p:grpSpPr>
        <p:sp>
          <p:nvSpPr>
            <p:cNvPr name="Freeform 4" id="4"/>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5" id="5"/>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6" id="6"/>
          <p:cNvGrpSpPr/>
          <p:nvPr/>
        </p:nvGrpSpPr>
        <p:grpSpPr>
          <a:xfrm rot="0">
            <a:off x="16610044" y="0"/>
            <a:ext cx="1298512" cy="6395085"/>
            <a:chOff x="0" y="0"/>
            <a:chExt cx="341995" cy="1684302"/>
          </a:xfrm>
        </p:grpSpPr>
        <p:sp>
          <p:nvSpPr>
            <p:cNvPr name="Freeform 7" id="7"/>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8" id="8"/>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9" id="9"/>
          <p:cNvSpPr txBox="true"/>
          <p:nvPr/>
        </p:nvSpPr>
        <p:spPr>
          <a:xfrm rot="0">
            <a:off x="1837201" y="942975"/>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10" id="10"/>
          <p:cNvSpPr txBox="true"/>
          <p:nvPr/>
        </p:nvSpPr>
        <p:spPr>
          <a:xfrm rot="0">
            <a:off x="4082412" y="2053360"/>
            <a:ext cx="8548489" cy="985345"/>
          </a:xfrm>
          <a:prstGeom prst="rect">
            <a:avLst/>
          </a:prstGeom>
        </p:spPr>
        <p:txBody>
          <a:bodyPr anchor="t" rtlCol="false" tIns="0" lIns="0" bIns="0" rIns="0">
            <a:spAutoFit/>
          </a:bodyPr>
          <a:lstStyle/>
          <a:p>
            <a:pPr algn="l" marL="0" indent="0" lvl="0">
              <a:lnSpc>
                <a:spcPts val="7252"/>
              </a:lnSpc>
            </a:pPr>
            <a:r>
              <a:rPr lang="en-US" b="true" sz="7634" spc="305">
                <a:solidFill>
                  <a:srgbClr val="000000"/>
                </a:solidFill>
                <a:latin typeface="Roboto Mono Bold"/>
                <a:ea typeface="Roboto Mono Bold"/>
                <a:cs typeface="Roboto Mono Bold"/>
                <a:sym typeface="Roboto Mono Bold"/>
              </a:rPr>
              <a:t>RATIONALE</a:t>
            </a:r>
          </a:p>
        </p:txBody>
      </p:sp>
      <p:sp>
        <p:nvSpPr>
          <p:cNvPr name="TextBox 11" id="11"/>
          <p:cNvSpPr txBox="true"/>
          <p:nvPr/>
        </p:nvSpPr>
        <p:spPr>
          <a:xfrm rot="0">
            <a:off x="4082412" y="2770761"/>
            <a:ext cx="10650196" cy="5857539"/>
          </a:xfrm>
          <a:prstGeom prst="rect">
            <a:avLst/>
          </a:prstGeom>
        </p:spPr>
        <p:txBody>
          <a:bodyPr anchor="t" rtlCol="false" tIns="0" lIns="0" bIns="0" rIns="0">
            <a:spAutoFit/>
          </a:bodyPr>
          <a:lstStyle/>
          <a:p>
            <a:pPr algn="l" marL="0" indent="0" lvl="0">
              <a:lnSpc>
                <a:spcPts val="5119"/>
              </a:lnSpc>
            </a:pPr>
            <a:r>
              <a:rPr lang="en-US" sz="3199" spc="479">
                <a:solidFill>
                  <a:srgbClr val="000000"/>
                </a:solidFill>
                <a:latin typeface="Arial"/>
                <a:ea typeface="Arial"/>
                <a:cs typeface="Arial"/>
                <a:sym typeface="Arial"/>
              </a:rPr>
              <a:t>The study explores the influence of parental expectations on Grade 12 students' career decisions at Magalang Saint Nicolas School Corporation. Results show that while parental support can enhance career choices, excessive expectations can cause stress and dissatisfaction. The study emphasizes the need for balanced guidance and career counseling. </a:t>
            </a:r>
          </a:p>
        </p:txBody>
      </p:sp>
      <p:sp>
        <p:nvSpPr>
          <p:cNvPr name="Freeform 12" id="12"/>
          <p:cNvSpPr/>
          <p:nvPr/>
        </p:nvSpPr>
        <p:spPr>
          <a:xfrm flipH="false" flipV="false" rot="5400000">
            <a:off x="16138026" y="8182949"/>
            <a:ext cx="418011" cy="1732690"/>
          </a:xfrm>
          <a:custGeom>
            <a:avLst/>
            <a:gdLst/>
            <a:ahLst/>
            <a:cxnLst/>
            <a:rect r="r" b="b" t="t" l="l"/>
            <a:pathLst>
              <a:path h="1732690" w="418011">
                <a:moveTo>
                  <a:pt x="0" y="0"/>
                </a:moveTo>
                <a:lnTo>
                  <a:pt x="418011" y="0"/>
                </a:lnTo>
                <a:lnTo>
                  <a:pt x="418011" y="1732690"/>
                </a:lnTo>
                <a:lnTo>
                  <a:pt x="0" y="173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705855" y="675636"/>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90977"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259300"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Freeform 8" id="8"/>
          <p:cNvSpPr/>
          <p:nvPr/>
        </p:nvSpPr>
        <p:spPr>
          <a:xfrm flipH="false" flipV="false" rot="5400000">
            <a:off x="-1647033" y="3806172"/>
            <a:ext cx="8211889" cy="4485744"/>
          </a:xfrm>
          <a:custGeom>
            <a:avLst/>
            <a:gdLst/>
            <a:ahLst/>
            <a:cxnLst/>
            <a:rect r="r" b="b" t="t" l="l"/>
            <a:pathLst>
              <a:path h="4485744" w="8211889">
                <a:moveTo>
                  <a:pt x="0" y="0"/>
                </a:moveTo>
                <a:lnTo>
                  <a:pt x="8211889" y="0"/>
                </a:lnTo>
                <a:lnTo>
                  <a:pt x="8211889" y="4485745"/>
                </a:lnTo>
                <a:lnTo>
                  <a:pt x="0" y="4485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3980690" y="3806172"/>
            <a:ext cx="8211889" cy="4485744"/>
          </a:xfrm>
          <a:custGeom>
            <a:avLst/>
            <a:gdLst/>
            <a:ahLst/>
            <a:cxnLst/>
            <a:rect r="r" b="b" t="t" l="l"/>
            <a:pathLst>
              <a:path h="4485744" w="8211889">
                <a:moveTo>
                  <a:pt x="0" y="0"/>
                </a:moveTo>
                <a:lnTo>
                  <a:pt x="8211889" y="0"/>
                </a:lnTo>
                <a:lnTo>
                  <a:pt x="8211889" y="4485745"/>
                </a:lnTo>
                <a:lnTo>
                  <a:pt x="0" y="4485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9342160" y="3806172"/>
            <a:ext cx="8211889" cy="4485744"/>
          </a:xfrm>
          <a:custGeom>
            <a:avLst/>
            <a:gdLst/>
            <a:ahLst/>
            <a:cxnLst/>
            <a:rect r="r" b="b" t="t" l="l"/>
            <a:pathLst>
              <a:path h="4485744" w="8211889">
                <a:moveTo>
                  <a:pt x="0" y="0"/>
                </a:moveTo>
                <a:lnTo>
                  <a:pt x="8211889" y="0"/>
                </a:lnTo>
                <a:lnTo>
                  <a:pt x="8211889" y="4485745"/>
                </a:lnTo>
                <a:lnTo>
                  <a:pt x="0" y="4485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1" id="11"/>
          <p:cNvSpPr/>
          <p:nvPr/>
        </p:nvSpPr>
        <p:spPr>
          <a:xfrm>
            <a:off x="4962667" y="5143500"/>
            <a:ext cx="620212" cy="0"/>
          </a:xfrm>
          <a:prstGeom prst="line">
            <a:avLst/>
          </a:prstGeom>
          <a:ln cap="flat" w="38100">
            <a:solidFill>
              <a:srgbClr val="000000"/>
            </a:solidFill>
            <a:prstDash val="solid"/>
            <a:headEnd type="none" len="sm" w="sm"/>
            <a:tailEnd type="arrow" len="sm" w="med"/>
          </a:ln>
        </p:spPr>
      </p:sp>
      <p:sp>
        <p:nvSpPr>
          <p:cNvPr name="AutoShape 12" id="12"/>
          <p:cNvSpPr/>
          <p:nvPr/>
        </p:nvSpPr>
        <p:spPr>
          <a:xfrm>
            <a:off x="10467936" y="5162550"/>
            <a:ext cx="620212" cy="0"/>
          </a:xfrm>
          <a:prstGeom prst="line">
            <a:avLst/>
          </a:prstGeom>
          <a:ln cap="flat" w="38100">
            <a:solidFill>
              <a:srgbClr val="000000"/>
            </a:solidFill>
            <a:prstDash val="solid"/>
            <a:headEnd type="none" len="sm" w="sm"/>
            <a:tailEnd type="arrow" len="sm" w="med"/>
          </a:ln>
        </p:spPr>
      </p:sp>
      <p:sp>
        <p:nvSpPr>
          <p:cNvPr name="TextBox 13" id="13"/>
          <p:cNvSpPr txBox="true"/>
          <p:nvPr/>
        </p:nvSpPr>
        <p:spPr>
          <a:xfrm rot="0">
            <a:off x="595791" y="2080720"/>
            <a:ext cx="865818" cy="370420"/>
          </a:xfrm>
          <a:prstGeom prst="rect">
            <a:avLst/>
          </a:prstGeom>
        </p:spPr>
        <p:txBody>
          <a:bodyPr anchor="t" rtlCol="false" tIns="0" lIns="0" bIns="0" rIns="0">
            <a:spAutoFit/>
          </a:bodyPr>
          <a:lstStyle/>
          <a:p>
            <a:pPr algn="ctr">
              <a:lnSpc>
                <a:spcPts val="3068"/>
              </a:lnSpc>
            </a:pPr>
            <a:r>
              <a:rPr lang="en-US" sz="2191" b="true">
                <a:solidFill>
                  <a:srgbClr val="000000"/>
                </a:solidFill>
                <a:latin typeface="Canva Sans Bold"/>
                <a:ea typeface="Canva Sans Bold"/>
                <a:cs typeface="Canva Sans Bold"/>
                <a:sym typeface="Canva Sans Bold"/>
              </a:rPr>
              <a:t>INPUT</a:t>
            </a:r>
          </a:p>
        </p:txBody>
      </p:sp>
      <p:sp>
        <p:nvSpPr>
          <p:cNvPr name="TextBox 14" id="14"/>
          <p:cNvSpPr txBox="true"/>
          <p:nvPr/>
        </p:nvSpPr>
        <p:spPr>
          <a:xfrm rot="0">
            <a:off x="6221551" y="2080720"/>
            <a:ext cx="1290899" cy="370420"/>
          </a:xfrm>
          <a:prstGeom prst="rect">
            <a:avLst/>
          </a:prstGeom>
        </p:spPr>
        <p:txBody>
          <a:bodyPr anchor="t" rtlCol="false" tIns="0" lIns="0" bIns="0" rIns="0">
            <a:spAutoFit/>
          </a:bodyPr>
          <a:lstStyle/>
          <a:p>
            <a:pPr algn="ctr">
              <a:lnSpc>
                <a:spcPts val="3068"/>
              </a:lnSpc>
            </a:pPr>
            <a:r>
              <a:rPr lang="en-US" sz="2191" b="true">
                <a:solidFill>
                  <a:srgbClr val="000000"/>
                </a:solidFill>
                <a:latin typeface="Canva Sans Bold"/>
                <a:ea typeface="Canva Sans Bold"/>
                <a:cs typeface="Canva Sans Bold"/>
                <a:sym typeface="Canva Sans Bold"/>
              </a:rPr>
              <a:t>PROCESS</a:t>
            </a:r>
          </a:p>
        </p:txBody>
      </p:sp>
      <p:sp>
        <p:nvSpPr>
          <p:cNvPr name="TextBox 15" id="15"/>
          <p:cNvSpPr txBox="true"/>
          <p:nvPr/>
        </p:nvSpPr>
        <p:spPr>
          <a:xfrm rot="0">
            <a:off x="11618124" y="2080720"/>
            <a:ext cx="1148751" cy="370420"/>
          </a:xfrm>
          <a:prstGeom prst="rect">
            <a:avLst/>
          </a:prstGeom>
        </p:spPr>
        <p:txBody>
          <a:bodyPr anchor="t" rtlCol="false" tIns="0" lIns="0" bIns="0" rIns="0">
            <a:spAutoFit/>
          </a:bodyPr>
          <a:lstStyle/>
          <a:p>
            <a:pPr algn="ctr">
              <a:lnSpc>
                <a:spcPts val="3068"/>
              </a:lnSpc>
            </a:pPr>
            <a:r>
              <a:rPr lang="en-US" sz="2191" b="true">
                <a:solidFill>
                  <a:srgbClr val="000000"/>
                </a:solidFill>
                <a:latin typeface="Canva Sans Bold"/>
                <a:ea typeface="Canva Sans Bold"/>
                <a:cs typeface="Canva Sans Bold"/>
                <a:sym typeface="Canva Sans Bold"/>
              </a:rPr>
              <a:t>OUTPUT</a:t>
            </a:r>
          </a:p>
        </p:txBody>
      </p:sp>
      <p:sp>
        <p:nvSpPr>
          <p:cNvPr name="TextBox 16" id="16"/>
          <p:cNvSpPr txBox="true"/>
          <p:nvPr/>
        </p:nvSpPr>
        <p:spPr>
          <a:xfrm rot="0">
            <a:off x="432478" y="2403515"/>
            <a:ext cx="4052866" cy="4393563"/>
          </a:xfrm>
          <a:prstGeom prst="rect">
            <a:avLst/>
          </a:prstGeom>
        </p:spPr>
        <p:txBody>
          <a:bodyPr anchor="t" rtlCol="false" tIns="0" lIns="0" bIns="0" rIns="0">
            <a:spAutoFit/>
          </a:bodyPr>
          <a:lstStyle/>
          <a:p>
            <a:pPr algn="l">
              <a:lnSpc>
                <a:spcPts val="3944"/>
              </a:lnSpc>
            </a:pPr>
            <a:r>
              <a:rPr lang="en-US" sz="2817">
                <a:solidFill>
                  <a:srgbClr val="000000"/>
                </a:solidFill>
                <a:latin typeface="Canva Sans"/>
                <a:ea typeface="Canva Sans"/>
                <a:cs typeface="Canva Sans"/>
                <a:sym typeface="Canva Sans"/>
              </a:rPr>
              <a:t>Demographic profile of grade 12 students in Magalang Saint Nicolas School Corporation in terms of:</a:t>
            </a:r>
          </a:p>
          <a:p>
            <a:pPr algn="l">
              <a:lnSpc>
                <a:spcPts val="3640"/>
              </a:lnSpc>
            </a:pPr>
            <a:r>
              <a:rPr lang="en-US" sz="2600">
                <a:solidFill>
                  <a:srgbClr val="000000"/>
                </a:solidFill>
                <a:latin typeface="Canva Sans"/>
                <a:ea typeface="Canva Sans"/>
                <a:cs typeface="Canva Sans"/>
                <a:sym typeface="Canva Sans"/>
              </a:rPr>
              <a:t>• Age</a:t>
            </a:r>
          </a:p>
          <a:p>
            <a:pPr algn="l">
              <a:lnSpc>
                <a:spcPts val="3944"/>
              </a:lnSpc>
            </a:pPr>
            <a:r>
              <a:rPr lang="en-US" sz="2817">
                <a:solidFill>
                  <a:srgbClr val="000000"/>
                </a:solidFill>
                <a:latin typeface="Canva Sans"/>
                <a:ea typeface="Canva Sans"/>
                <a:cs typeface="Canva Sans"/>
                <a:sym typeface="Canva Sans"/>
              </a:rPr>
              <a:t>• Sex</a:t>
            </a:r>
          </a:p>
          <a:p>
            <a:pPr algn="l">
              <a:lnSpc>
                <a:spcPts val="3944"/>
              </a:lnSpc>
            </a:pPr>
            <a:r>
              <a:rPr lang="en-US" sz="2817">
                <a:solidFill>
                  <a:srgbClr val="000000"/>
                </a:solidFill>
                <a:latin typeface="Canva Sans"/>
                <a:ea typeface="Canva Sans"/>
                <a:cs typeface="Canva Sans"/>
                <a:sym typeface="Canva Sans"/>
              </a:rPr>
              <a:t>• Strand</a:t>
            </a:r>
          </a:p>
          <a:p>
            <a:pPr algn="l">
              <a:lnSpc>
                <a:spcPts val="3944"/>
              </a:lnSpc>
            </a:pPr>
          </a:p>
        </p:txBody>
      </p:sp>
      <p:sp>
        <p:nvSpPr>
          <p:cNvPr name="TextBox 17" id="17"/>
          <p:cNvSpPr txBox="true"/>
          <p:nvPr/>
        </p:nvSpPr>
        <p:spPr>
          <a:xfrm rot="0">
            <a:off x="6059129" y="2403515"/>
            <a:ext cx="4052866" cy="4434954"/>
          </a:xfrm>
          <a:prstGeom prst="rect">
            <a:avLst/>
          </a:prstGeom>
        </p:spPr>
        <p:txBody>
          <a:bodyPr anchor="t" rtlCol="false" tIns="0" lIns="0" bIns="0" rIns="0">
            <a:spAutoFit/>
          </a:bodyPr>
          <a:lstStyle/>
          <a:p>
            <a:pPr algn="l">
              <a:lnSpc>
                <a:spcPts val="3944"/>
              </a:lnSpc>
            </a:pPr>
            <a:r>
              <a:rPr lang="en-US" sz="2817">
                <a:solidFill>
                  <a:srgbClr val="000000"/>
                </a:solidFill>
                <a:latin typeface="Canva Sans"/>
                <a:ea typeface="Canva Sans"/>
                <a:cs typeface="Canva Sans"/>
                <a:sym typeface="Canva Sans"/>
              </a:rPr>
              <a:t>• Secure a consent letter</a:t>
            </a:r>
          </a:p>
          <a:p>
            <a:pPr algn="l">
              <a:lnSpc>
                <a:spcPts val="3944"/>
              </a:lnSpc>
            </a:pPr>
            <a:r>
              <a:rPr lang="en-US" sz="2817">
                <a:solidFill>
                  <a:srgbClr val="000000"/>
                </a:solidFill>
                <a:latin typeface="Canva Sans"/>
                <a:ea typeface="Canva Sans"/>
                <a:cs typeface="Canva Sans"/>
                <a:sym typeface="Canva Sans"/>
              </a:rPr>
              <a:t>• Administer the questionnaire</a:t>
            </a:r>
          </a:p>
          <a:p>
            <a:pPr algn="l">
              <a:lnSpc>
                <a:spcPts val="3944"/>
              </a:lnSpc>
            </a:pPr>
            <a:r>
              <a:rPr lang="en-US" sz="2817">
                <a:solidFill>
                  <a:srgbClr val="000000"/>
                </a:solidFill>
                <a:latin typeface="Canva Sans"/>
                <a:ea typeface="Canva Sans"/>
                <a:cs typeface="Canva Sans"/>
                <a:sym typeface="Canva Sans"/>
              </a:rPr>
              <a:t>• Collection of Data through questionnaires</a:t>
            </a:r>
          </a:p>
          <a:p>
            <a:pPr algn="l">
              <a:lnSpc>
                <a:spcPts val="3944"/>
              </a:lnSpc>
            </a:pPr>
            <a:r>
              <a:rPr lang="en-US" sz="2817">
                <a:solidFill>
                  <a:srgbClr val="000000"/>
                </a:solidFill>
                <a:latin typeface="Canva Sans"/>
                <a:ea typeface="Canva Sans"/>
                <a:cs typeface="Canva Sans"/>
                <a:sym typeface="Canva Sans"/>
              </a:rPr>
              <a:t>• Analyze the data</a:t>
            </a:r>
          </a:p>
          <a:p>
            <a:pPr algn="l">
              <a:lnSpc>
                <a:spcPts val="3944"/>
              </a:lnSpc>
            </a:pPr>
            <a:r>
              <a:rPr lang="en-US" sz="2817">
                <a:solidFill>
                  <a:srgbClr val="000000"/>
                </a:solidFill>
                <a:latin typeface="Canva Sans"/>
                <a:ea typeface="Canva Sans"/>
                <a:cs typeface="Canva Sans"/>
                <a:sym typeface="Canva Sans"/>
              </a:rPr>
              <a:t>• Interpret the results</a:t>
            </a:r>
          </a:p>
          <a:p>
            <a:pPr algn="l">
              <a:lnSpc>
                <a:spcPts val="3944"/>
              </a:lnSpc>
            </a:pPr>
          </a:p>
        </p:txBody>
      </p:sp>
      <p:sp>
        <p:nvSpPr>
          <p:cNvPr name="TextBox 18" id="18"/>
          <p:cNvSpPr txBox="true"/>
          <p:nvPr/>
        </p:nvSpPr>
        <p:spPr>
          <a:xfrm rot="0">
            <a:off x="11440573" y="2403515"/>
            <a:ext cx="4052866" cy="3444090"/>
          </a:xfrm>
          <a:prstGeom prst="rect">
            <a:avLst/>
          </a:prstGeom>
        </p:spPr>
        <p:txBody>
          <a:bodyPr anchor="t" rtlCol="false" tIns="0" lIns="0" bIns="0" rIns="0">
            <a:spAutoFit/>
          </a:bodyPr>
          <a:lstStyle/>
          <a:p>
            <a:pPr algn="l">
              <a:lnSpc>
                <a:spcPts val="3944"/>
              </a:lnSpc>
            </a:pPr>
            <a:r>
              <a:rPr lang="en-US" sz="2817">
                <a:solidFill>
                  <a:srgbClr val="000000"/>
                </a:solidFill>
                <a:latin typeface="Canva Sans"/>
                <a:ea typeface="Canva Sans"/>
                <a:cs typeface="Canva Sans"/>
                <a:sym typeface="Canva Sans"/>
              </a:rPr>
              <a:t>To assess the impact of parental expectations on grade 12 students when it comes to career choices, and how it can affect to them as a student.</a:t>
            </a:r>
          </a:p>
        </p:txBody>
      </p:sp>
      <p:sp>
        <p:nvSpPr>
          <p:cNvPr name="TextBox 19" id="19"/>
          <p:cNvSpPr txBox="true"/>
          <p:nvPr/>
        </p:nvSpPr>
        <p:spPr>
          <a:xfrm rot="0">
            <a:off x="301122" y="767831"/>
            <a:ext cx="8842878" cy="636038"/>
          </a:xfrm>
          <a:prstGeom prst="rect">
            <a:avLst/>
          </a:prstGeom>
        </p:spPr>
        <p:txBody>
          <a:bodyPr anchor="t" rtlCol="false" tIns="0" lIns="0" bIns="0" rIns="0">
            <a:spAutoFit/>
          </a:bodyPr>
          <a:lstStyle/>
          <a:p>
            <a:pPr algn="l" marL="0" indent="0" lvl="0">
              <a:lnSpc>
                <a:spcPts val="4704"/>
              </a:lnSpc>
            </a:pPr>
            <a:r>
              <a:rPr lang="en-US" b="true" sz="4951" spc="198">
                <a:solidFill>
                  <a:srgbClr val="000000"/>
                </a:solidFill>
                <a:latin typeface="Roboto Mono Bold"/>
                <a:ea typeface="Roboto Mono Bold"/>
                <a:cs typeface="Roboto Mono Bold"/>
                <a:sym typeface="Roboto Mono Bold"/>
              </a:rPr>
              <a:t>CONCEPTUAL FRAMEWORK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1312" y="2880975"/>
            <a:ext cx="8123610" cy="7406025"/>
          </a:xfrm>
          <a:custGeom>
            <a:avLst/>
            <a:gdLst/>
            <a:ahLst/>
            <a:cxnLst/>
            <a:rect r="r" b="b" t="t" l="l"/>
            <a:pathLst>
              <a:path h="7406025" w="8123610">
                <a:moveTo>
                  <a:pt x="0" y="0"/>
                </a:moveTo>
                <a:lnTo>
                  <a:pt x="8123610" y="0"/>
                </a:lnTo>
                <a:lnTo>
                  <a:pt x="8123610" y="7406025"/>
                </a:lnTo>
                <a:lnTo>
                  <a:pt x="0" y="74060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048520" y="0"/>
            <a:ext cx="1298512" cy="4569961"/>
            <a:chOff x="0" y="0"/>
            <a:chExt cx="341995" cy="1203611"/>
          </a:xfrm>
        </p:grpSpPr>
        <p:sp>
          <p:nvSpPr>
            <p:cNvPr name="Freeform 4" id="4"/>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5" id="5"/>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6" id="6"/>
          <p:cNvGrpSpPr/>
          <p:nvPr/>
        </p:nvGrpSpPr>
        <p:grpSpPr>
          <a:xfrm rot="0">
            <a:off x="16610044" y="0"/>
            <a:ext cx="1298512" cy="6395085"/>
            <a:chOff x="0" y="0"/>
            <a:chExt cx="341995" cy="1684302"/>
          </a:xfrm>
        </p:grpSpPr>
        <p:sp>
          <p:nvSpPr>
            <p:cNvPr name="Freeform 7" id="7"/>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8" id="8"/>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9" id="9"/>
          <p:cNvSpPr txBox="true"/>
          <p:nvPr/>
        </p:nvSpPr>
        <p:spPr>
          <a:xfrm rot="0">
            <a:off x="1837201" y="942975"/>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10" id="10"/>
          <p:cNvSpPr txBox="true"/>
          <p:nvPr/>
        </p:nvSpPr>
        <p:spPr>
          <a:xfrm rot="0">
            <a:off x="4981900" y="1895631"/>
            <a:ext cx="8548489" cy="985345"/>
          </a:xfrm>
          <a:prstGeom prst="rect">
            <a:avLst/>
          </a:prstGeom>
        </p:spPr>
        <p:txBody>
          <a:bodyPr anchor="t" rtlCol="false" tIns="0" lIns="0" bIns="0" rIns="0">
            <a:spAutoFit/>
          </a:bodyPr>
          <a:lstStyle/>
          <a:p>
            <a:pPr algn="l" marL="0" indent="0" lvl="0">
              <a:lnSpc>
                <a:spcPts val="7252"/>
              </a:lnSpc>
            </a:pPr>
            <a:r>
              <a:rPr lang="en-US" b="true" sz="7634" spc="305">
                <a:solidFill>
                  <a:srgbClr val="000000"/>
                </a:solidFill>
                <a:latin typeface="Roboto Mono Bold"/>
                <a:ea typeface="Roboto Mono Bold"/>
                <a:cs typeface="Roboto Mono Bold"/>
                <a:sym typeface="Roboto Mono Bold"/>
              </a:rPr>
              <a:t>RESPONDENTS</a:t>
            </a:r>
          </a:p>
        </p:txBody>
      </p:sp>
      <p:sp>
        <p:nvSpPr>
          <p:cNvPr name="TextBox 11" id="11"/>
          <p:cNvSpPr txBox="true"/>
          <p:nvPr/>
        </p:nvSpPr>
        <p:spPr>
          <a:xfrm rot="0">
            <a:off x="4981900" y="2782801"/>
            <a:ext cx="10218029" cy="6128436"/>
          </a:xfrm>
          <a:prstGeom prst="rect">
            <a:avLst/>
          </a:prstGeom>
        </p:spPr>
        <p:txBody>
          <a:bodyPr anchor="t" rtlCol="false" tIns="0" lIns="0" bIns="0" rIns="0">
            <a:spAutoFit/>
          </a:bodyPr>
          <a:lstStyle/>
          <a:p>
            <a:pPr algn="l" marL="0" indent="0" lvl="0">
              <a:lnSpc>
                <a:spcPts val="4822"/>
              </a:lnSpc>
            </a:pPr>
            <a:r>
              <a:rPr lang="en-US" sz="3013" spc="452">
                <a:solidFill>
                  <a:srgbClr val="000000"/>
                </a:solidFill>
                <a:latin typeface="Arial"/>
                <a:ea typeface="Arial"/>
                <a:cs typeface="Arial"/>
                <a:sym typeface="Arial"/>
              </a:rPr>
              <a:t>The respondents of this study will be the Grade 12 students of Magalang Saint Nicolas School Corporation. These students are chosen as they are at a critical stage in choosing their career paths, where factors like parental expectations affect their decisions. The study will gather data from a representative sample to ensure accurate and meaningful insights into their experiences and challenges.</a:t>
            </a:r>
          </a:p>
        </p:txBody>
      </p:sp>
      <p:sp>
        <p:nvSpPr>
          <p:cNvPr name="Freeform 12" id="12"/>
          <p:cNvSpPr/>
          <p:nvPr/>
        </p:nvSpPr>
        <p:spPr>
          <a:xfrm flipH="false" flipV="false" rot="5400000">
            <a:off x="16138026" y="8182949"/>
            <a:ext cx="418011" cy="1732690"/>
          </a:xfrm>
          <a:custGeom>
            <a:avLst/>
            <a:gdLst/>
            <a:ahLst/>
            <a:cxnLst/>
            <a:rect r="r" b="b" t="t" l="l"/>
            <a:pathLst>
              <a:path h="1732690" w="418011">
                <a:moveTo>
                  <a:pt x="0" y="0"/>
                </a:moveTo>
                <a:lnTo>
                  <a:pt x="418011" y="0"/>
                </a:lnTo>
                <a:lnTo>
                  <a:pt x="418011" y="1732690"/>
                </a:lnTo>
                <a:lnTo>
                  <a:pt x="0" y="173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705855" y="675636"/>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1312" y="2880975"/>
            <a:ext cx="8123610" cy="7406025"/>
          </a:xfrm>
          <a:custGeom>
            <a:avLst/>
            <a:gdLst/>
            <a:ahLst/>
            <a:cxnLst/>
            <a:rect r="r" b="b" t="t" l="l"/>
            <a:pathLst>
              <a:path h="7406025" w="8123610">
                <a:moveTo>
                  <a:pt x="0" y="0"/>
                </a:moveTo>
                <a:lnTo>
                  <a:pt x="8123610" y="0"/>
                </a:lnTo>
                <a:lnTo>
                  <a:pt x="8123610" y="7406025"/>
                </a:lnTo>
                <a:lnTo>
                  <a:pt x="0" y="74060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048520" y="0"/>
            <a:ext cx="1298512" cy="4569961"/>
            <a:chOff x="0" y="0"/>
            <a:chExt cx="341995" cy="1203611"/>
          </a:xfrm>
        </p:grpSpPr>
        <p:sp>
          <p:nvSpPr>
            <p:cNvPr name="Freeform 4" id="4"/>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5" id="5"/>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6" id="6"/>
          <p:cNvGrpSpPr/>
          <p:nvPr/>
        </p:nvGrpSpPr>
        <p:grpSpPr>
          <a:xfrm rot="0">
            <a:off x="16610044" y="0"/>
            <a:ext cx="1298512" cy="6395085"/>
            <a:chOff x="0" y="0"/>
            <a:chExt cx="341995" cy="1684302"/>
          </a:xfrm>
        </p:grpSpPr>
        <p:sp>
          <p:nvSpPr>
            <p:cNvPr name="Freeform 7" id="7"/>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8" id="8"/>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9" id="9"/>
          <p:cNvSpPr txBox="true"/>
          <p:nvPr/>
        </p:nvSpPr>
        <p:spPr>
          <a:xfrm rot="0">
            <a:off x="1837201" y="942975"/>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10" id="10"/>
          <p:cNvSpPr txBox="true"/>
          <p:nvPr/>
        </p:nvSpPr>
        <p:spPr>
          <a:xfrm rot="0">
            <a:off x="4981900" y="2203439"/>
            <a:ext cx="11992234" cy="985345"/>
          </a:xfrm>
          <a:prstGeom prst="rect">
            <a:avLst/>
          </a:prstGeom>
        </p:spPr>
        <p:txBody>
          <a:bodyPr anchor="t" rtlCol="false" tIns="0" lIns="0" bIns="0" rIns="0">
            <a:spAutoFit/>
          </a:bodyPr>
          <a:lstStyle/>
          <a:p>
            <a:pPr algn="l" marL="0" indent="0" lvl="0">
              <a:lnSpc>
                <a:spcPts val="7252"/>
              </a:lnSpc>
            </a:pPr>
            <a:r>
              <a:rPr lang="en-US" b="true" sz="7634" spc="305">
                <a:solidFill>
                  <a:srgbClr val="000000"/>
                </a:solidFill>
                <a:latin typeface="Roboto Mono Bold"/>
                <a:ea typeface="Roboto Mono Bold"/>
                <a:cs typeface="Roboto Mono Bold"/>
                <a:sym typeface="Roboto Mono Bold"/>
              </a:rPr>
              <a:t>SAMPLING METHOD</a:t>
            </a:r>
          </a:p>
        </p:txBody>
      </p:sp>
      <p:sp>
        <p:nvSpPr>
          <p:cNvPr name="TextBox 11" id="11"/>
          <p:cNvSpPr txBox="true"/>
          <p:nvPr/>
        </p:nvSpPr>
        <p:spPr>
          <a:xfrm rot="0">
            <a:off x="4981900" y="3236408"/>
            <a:ext cx="10218029" cy="5295833"/>
          </a:xfrm>
          <a:prstGeom prst="rect">
            <a:avLst/>
          </a:prstGeom>
        </p:spPr>
        <p:txBody>
          <a:bodyPr anchor="t" rtlCol="false" tIns="0" lIns="0" bIns="0" rIns="0">
            <a:spAutoFit/>
          </a:bodyPr>
          <a:lstStyle/>
          <a:p>
            <a:pPr algn="l" marL="0" indent="0" lvl="0">
              <a:lnSpc>
                <a:spcPts val="6902"/>
              </a:lnSpc>
            </a:pPr>
            <a:r>
              <a:rPr lang="en-US" sz="4313" spc="647">
                <a:solidFill>
                  <a:srgbClr val="000000"/>
                </a:solidFill>
                <a:latin typeface="Arial"/>
                <a:ea typeface="Arial"/>
                <a:cs typeface="Arial"/>
                <a:sym typeface="Arial"/>
              </a:rPr>
              <a:t>In order to collect data from the respondents, this study used a Simple Random Sampling Method based on the questions and hypotheses mentioned.</a:t>
            </a:r>
            <a:r>
              <a:rPr lang="en-US" sz="4313" spc="647">
                <a:solidFill>
                  <a:srgbClr val="000000"/>
                </a:solidFill>
                <a:latin typeface="Arial"/>
                <a:ea typeface="Arial"/>
                <a:cs typeface="Arial"/>
                <a:sym typeface="Arial"/>
              </a:rPr>
              <a:t> </a:t>
            </a:r>
          </a:p>
        </p:txBody>
      </p:sp>
      <p:sp>
        <p:nvSpPr>
          <p:cNvPr name="Freeform 12" id="12"/>
          <p:cNvSpPr/>
          <p:nvPr/>
        </p:nvSpPr>
        <p:spPr>
          <a:xfrm flipH="false" flipV="false" rot="5400000">
            <a:off x="16138026" y="8182949"/>
            <a:ext cx="418011" cy="1732690"/>
          </a:xfrm>
          <a:custGeom>
            <a:avLst/>
            <a:gdLst/>
            <a:ahLst/>
            <a:cxnLst/>
            <a:rect r="r" b="b" t="t" l="l"/>
            <a:pathLst>
              <a:path h="1732690" w="418011">
                <a:moveTo>
                  <a:pt x="0" y="0"/>
                </a:moveTo>
                <a:lnTo>
                  <a:pt x="418011" y="0"/>
                </a:lnTo>
                <a:lnTo>
                  <a:pt x="418011" y="1732690"/>
                </a:lnTo>
                <a:lnTo>
                  <a:pt x="0" y="173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705855" y="675636"/>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11312" y="2880975"/>
            <a:ext cx="8123610" cy="7406025"/>
          </a:xfrm>
          <a:custGeom>
            <a:avLst/>
            <a:gdLst/>
            <a:ahLst/>
            <a:cxnLst/>
            <a:rect r="r" b="b" t="t" l="l"/>
            <a:pathLst>
              <a:path h="7406025" w="8123610">
                <a:moveTo>
                  <a:pt x="0" y="0"/>
                </a:moveTo>
                <a:lnTo>
                  <a:pt x="8123610" y="0"/>
                </a:lnTo>
                <a:lnTo>
                  <a:pt x="8123610" y="7406025"/>
                </a:lnTo>
                <a:lnTo>
                  <a:pt x="0" y="74060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048520" y="0"/>
            <a:ext cx="1298512" cy="4569961"/>
            <a:chOff x="0" y="0"/>
            <a:chExt cx="341995" cy="1203611"/>
          </a:xfrm>
        </p:grpSpPr>
        <p:sp>
          <p:nvSpPr>
            <p:cNvPr name="Freeform 4" id="4"/>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5" id="5"/>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6" id="6"/>
          <p:cNvGrpSpPr/>
          <p:nvPr/>
        </p:nvGrpSpPr>
        <p:grpSpPr>
          <a:xfrm rot="0">
            <a:off x="16610044" y="0"/>
            <a:ext cx="1298512" cy="6395085"/>
            <a:chOff x="0" y="0"/>
            <a:chExt cx="341995" cy="1684302"/>
          </a:xfrm>
        </p:grpSpPr>
        <p:sp>
          <p:nvSpPr>
            <p:cNvPr name="Freeform 7" id="7"/>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8" id="8"/>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9" id="9"/>
          <p:cNvSpPr txBox="true"/>
          <p:nvPr/>
        </p:nvSpPr>
        <p:spPr>
          <a:xfrm rot="0">
            <a:off x="1837201" y="942975"/>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10" id="10"/>
          <p:cNvSpPr txBox="true"/>
          <p:nvPr/>
        </p:nvSpPr>
        <p:spPr>
          <a:xfrm rot="0">
            <a:off x="4981900" y="1895631"/>
            <a:ext cx="11992234" cy="985345"/>
          </a:xfrm>
          <a:prstGeom prst="rect">
            <a:avLst/>
          </a:prstGeom>
        </p:spPr>
        <p:txBody>
          <a:bodyPr anchor="t" rtlCol="false" tIns="0" lIns="0" bIns="0" rIns="0">
            <a:spAutoFit/>
          </a:bodyPr>
          <a:lstStyle/>
          <a:p>
            <a:pPr algn="l" marL="0" indent="0" lvl="0">
              <a:lnSpc>
                <a:spcPts val="7252"/>
              </a:lnSpc>
            </a:pPr>
            <a:r>
              <a:rPr lang="en-US" b="true" sz="7634" spc="305">
                <a:solidFill>
                  <a:srgbClr val="000000"/>
                </a:solidFill>
                <a:latin typeface="Roboto Mono Bold"/>
                <a:ea typeface="Roboto Mono Bold"/>
                <a:cs typeface="Roboto Mono Bold"/>
                <a:sym typeface="Roboto Mono Bold"/>
              </a:rPr>
              <a:t>INSTRUMENTS</a:t>
            </a:r>
          </a:p>
        </p:txBody>
      </p:sp>
      <p:sp>
        <p:nvSpPr>
          <p:cNvPr name="TextBox 11" id="11"/>
          <p:cNvSpPr txBox="true"/>
          <p:nvPr/>
        </p:nvSpPr>
        <p:spPr>
          <a:xfrm rot="0">
            <a:off x="4981900" y="2998283"/>
            <a:ext cx="10218029" cy="6689658"/>
          </a:xfrm>
          <a:prstGeom prst="rect">
            <a:avLst/>
          </a:prstGeom>
        </p:spPr>
        <p:txBody>
          <a:bodyPr anchor="t" rtlCol="false" tIns="0" lIns="0" bIns="0" rIns="0">
            <a:spAutoFit/>
          </a:bodyPr>
          <a:lstStyle/>
          <a:p>
            <a:pPr algn="l" marL="0" indent="0" lvl="0">
              <a:lnSpc>
                <a:spcPts val="5302"/>
              </a:lnSpc>
            </a:pPr>
            <a:r>
              <a:rPr lang="en-US" sz="3313" spc="497">
                <a:solidFill>
                  <a:srgbClr val="000000"/>
                </a:solidFill>
                <a:latin typeface="Arial"/>
                <a:ea typeface="Arial"/>
                <a:cs typeface="Arial"/>
                <a:sym typeface="Arial"/>
              </a:rPr>
              <a:t>The researchers created a questionnaire with ten questions in order to collect the required data from the fifteen grade 12 students at Magalang St. Nicolas School Corporation. Based on the purpose of the study, the researchers developed these questionnaires. The questionnaires were examined by an English critic to ensure that technical writing and grammar were kept to. </a:t>
            </a:r>
          </a:p>
        </p:txBody>
      </p:sp>
      <p:sp>
        <p:nvSpPr>
          <p:cNvPr name="Freeform 12" id="12"/>
          <p:cNvSpPr/>
          <p:nvPr/>
        </p:nvSpPr>
        <p:spPr>
          <a:xfrm flipH="false" flipV="false" rot="5400000">
            <a:off x="16138026" y="8182949"/>
            <a:ext cx="418011" cy="1732690"/>
          </a:xfrm>
          <a:custGeom>
            <a:avLst/>
            <a:gdLst/>
            <a:ahLst/>
            <a:cxnLst/>
            <a:rect r="r" b="b" t="t" l="l"/>
            <a:pathLst>
              <a:path h="1732690" w="418011">
                <a:moveTo>
                  <a:pt x="0" y="0"/>
                </a:moveTo>
                <a:lnTo>
                  <a:pt x="418011" y="0"/>
                </a:lnTo>
                <a:lnTo>
                  <a:pt x="418011" y="1732690"/>
                </a:lnTo>
                <a:lnTo>
                  <a:pt x="0" y="173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705855" y="675636"/>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21204" y="2534431"/>
            <a:ext cx="8123610" cy="7406025"/>
          </a:xfrm>
          <a:custGeom>
            <a:avLst/>
            <a:gdLst/>
            <a:ahLst/>
            <a:cxnLst/>
            <a:rect r="r" b="b" t="t" l="l"/>
            <a:pathLst>
              <a:path h="7406025" w="8123610">
                <a:moveTo>
                  <a:pt x="0" y="0"/>
                </a:moveTo>
                <a:lnTo>
                  <a:pt x="8123611" y="0"/>
                </a:lnTo>
                <a:lnTo>
                  <a:pt x="8123611" y="7406025"/>
                </a:lnTo>
                <a:lnTo>
                  <a:pt x="0" y="74060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048520" y="0"/>
            <a:ext cx="1298512" cy="4569961"/>
            <a:chOff x="0" y="0"/>
            <a:chExt cx="341995" cy="1203611"/>
          </a:xfrm>
        </p:grpSpPr>
        <p:sp>
          <p:nvSpPr>
            <p:cNvPr name="Freeform 4" id="4"/>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5" id="5"/>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6" id="6"/>
          <p:cNvGrpSpPr/>
          <p:nvPr/>
        </p:nvGrpSpPr>
        <p:grpSpPr>
          <a:xfrm rot="0">
            <a:off x="16610044" y="0"/>
            <a:ext cx="1298512" cy="6395085"/>
            <a:chOff x="0" y="0"/>
            <a:chExt cx="341995" cy="1684302"/>
          </a:xfrm>
        </p:grpSpPr>
        <p:sp>
          <p:nvSpPr>
            <p:cNvPr name="Freeform 7" id="7"/>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8" id="8"/>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9" id="9"/>
          <p:cNvSpPr txBox="true"/>
          <p:nvPr/>
        </p:nvSpPr>
        <p:spPr>
          <a:xfrm rot="0">
            <a:off x="1837201" y="785333"/>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10" id="10"/>
          <p:cNvSpPr txBox="true"/>
          <p:nvPr/>
        </p:nvSpPr>
        <p:spPr>
          <a:xfrm rot="0">
            <a:off x="3502855" y="1720392"/>
            <a:ext cx="11992234" cy="985345"/>
          </a:xfrm>
          <a:prstGeom prst="rect">
            <a:avLst/>
          </a:prstGeom>
        </p:spPr>
        <p:txBody>
          <a:bodyPr anchor="t" rtlCol="false" tIns="0" lIns="0" bIns="0" rIns="0">
            <a:spAutoFit/>
          </a:bodyPr>
          <a:lstStyle/>
          <a:p>
            <a:pPr algn="l" marL="0" indent="0" lvl="0">
              <a:lnSpc>
                <a:spcPts val="7252"/>
              </a:lnSpc>
            </a:pPr>
            <a:r>
              <a:rPr lang="en-US" b="true" sz="7634" spc="305">
                <a:solidFill>
                  <a:srgbClr val="000000"/>
                </a:solidFill>
                <a:latin typeface="Roboto Mono Bold"/>
                <a:ea typeface="Roboto Mono Bold"/>
                <a:cs typeface="Roboto Mono Bold"/>
                <a:sym typeface="Roboto Mono Bold"/>
              </a:rPr>
              <a:t>PROCEDURE</a:t>
            </a:r>
          </a:p>
        </p:txBody>
      </p:sp>
      <p:sp>
        <p:nvSpPr>
          <p:cNvPr name="TextBox 11" id="11"/>
          <p:cNvSpPr txBox="true"/>
          <p:nvPr/>
        </p:nvSpPr>
        <p:spPr>
          <a:xfrm rot="0">
            <a:off x="3502855" y="2597384"/>
            <a:ext cx="11545665" cy="7343072"/>
          </a:xfrm>
          <a:prstGeom prst="rect">
            <a:avLst/>
          </a:prstGeom>
        </p:spPr>
        <p:txBody>
          <a:bodyPr anchor="t" rtlCol="false" tIns="0" lIns="0" bIns="0" rIns="0">
            <a:spAutoFit/>
          </a:bodyPr>
          <a:lstStyle/>
          <a:p>
            <a:pPr algn="l" marL="0" indent="0" lvl="0">
              <a:lnSpc>
                <a:spcPts val="4822"/>
              </a:lnSpc>
            </a:pPr>
            <a:r>
              <a:rPr lang="en-US" sz="3013" spc="452">
                <a:solidFill>
                  <a:srgbClr val="000000"/>
                </a:solidFill>
                <a:latin typeface="Arial"/>
                <a:ea typeface="Arial"/>
                <a:cs typeface="Arial"/>
                <a:sym typeface="Arial"/>
              </a:rPr>
              <a:t>The researchers sent consent letters to the school administrator and the grammarian at Magalang St. Nicolas School Corporation in Magalang, Pampanga, to secure their approval for the study. The researchers will personally visit the study participants after receiving approval. Participants submitted a timetable for the first step of the data collecting process, which involved questioning each remaining participant individually. In order to help the participants grasp the goal of the study, the researchers will also provide them with an overview. </a:t>
            </a:r>
          </a:p>
        </p:txBody>
      </p:sp>
      <p:sp>
        <p:nvSpPr>
          <p:cNvPr name="Freeform 12" id="12"/>
          <p:cNvSpPr/>
          <p:nvPr/>
        </p:nvSpPr>
        <p:spPr>
          <a:xfrm flipH="false" flipV="false" rot="5400000">
            <a:off x="16138026" y="8182949"/>
            <a:ext cx="418011" cy="1732690"/>
          </a:xfrm>
          <a:custGeom>
            <a:avLst/>
            <a:gdLst/>
            <a:ahLst/>
            <a:cxnLst/>
            <a:rect r="r" b="b" t="t" l="l"/>
            <a:pathLst>
              <a:path h="1732690" w="418011">
                <a:moveTo>
                  <a:pt x="0" y="0"/>
                </a:moveTo>
                <a:lnTo>
                  <a:pt x="418011" y="0"/>
                </a:lnTo>
                <a:lnTo>
                  <a:pt x="418011" y="1732690"/>
                </a:lnTo>
                <a:lnTo>
                  <a:pt x="0" y="173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705855" y="517994"/>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651091"/>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576624"/>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STATEMENT OF THE PROBLEM</a:t>
            </a:r>
          </a:p>
        </p:txBody>
      </p:sp>
      <p:sp>
        <p:nvSpPr>
          <p:cNvPr name="TextBox 10" id="10"/>
          <p:cNvSpPr txBox="true"/>
          <p:nvPr/>
        </p:nvSpPr>
        <p:spPr>
          <a:xfrm rot="0">
            <a:off x="1028700" y="2333369"/>
            <a:ext cx="15101510" cy="7715506"/>
          </a:xfrm>
          <a:prstGeom prst="rect">
            <a:avLst/>
          </a:prstGeom>
        </p:spPr>
        <p:txBody>
          <a:bodyPr anchor="t" rtlCol="false" tIns="0" lIns="0" bIns="0" rIns="0">
            <a:spAutoFit/>
          </a:bodyPr>
          <a:lstStyle/>
          <a:p>
            <a:pPr algn="l">
              <a:lnSpc>
                <a:spcPts val="6422"/>
              </a:lnSpc>
            </a:pPr>
            <a:r>
              <a:rPr lang="en-US" sz="4013" spc="602">
                <a:solidFill>
                  <a:srgbClr val="000000"/>
                </a:solidFill>
                <a:latin typeface="Arial"/>
                <a:ea typeface="Arial"/>
                <a:cs typeface="Arial"/>
                <a:sym typeface="Arial"/>
              </a:rPr>
              <a:t>The study is taking place to determine what are the Parental Expectations' Impact on Grade 12 Career Choices at Magalang Saint Nicolas School Corporation</a:t>
            </a:r>
          </a:p>
          <a:p>
            <a:pPr algn="l">
              <a:lnSpc>
                <a:spcPts val="6422"/>
              </a:lnSpc>
            </a:pPr>
            <a:r>
              <a:rPr lang="en-US" sz="4013" spc="602">
                <a:solidFill>
                  <a:srgbClr val="000000"/>
                </a:solidFill>
                <a:latin typeface="Arial"/>
                <a:ea typeface="Arial"/>
                <a:cs typeface="Arial"/>
                <a:sym typeface="Arial"/>
              </a:rPr>
              <a:t>1. How may the demographic profile of the respondents be described in terms of:</a:t>
            </a:r>
          </a:p>
          <a:p>
            <a:pPr algn="l">
              <a:lnSpc>
                <a:spcPts val="6902"/>
              </a:lnSpc>
            </a:pPr>
            <a:r>
              <a:rPr lang="en-US" sz="4313" spc="647">
                <a:solidFill>
                  <a:srgbClr val="000000"/>
                </a:solidFill>
                <a:latin typeface="Arial"/>
                <a:ea typeface="Arial"/>
                <a:cs typeface="Arial"/>
                <a:sym typeface="Arial"/>
              </a:rPr>
              <a:t>1.1 age</a:t>
            </a:r>
          </a:p>
          <a:p>
            <a:pPr algn="l">
              <a:lnSpc>
                <a:spcPts val="6902"/>
              </a:lnSpc>
            </a:pPr>
            <a:r>
              <a:rPr lang="en-US" sz="4313" spc="647">
                <a:solidFill>
                  <a:srgbClr val="000000"/>
                </a:solidFill>
                <a:latin typeface="Arial"/>
                <a:ea typeface="Arial"/>
                <a:cs typeface="Arial"/>
                <a:sym typeface="Arial"/>
              </a:rPr>
              <a:t>1.2 gender</a:t>
            </a:r>
          </a:p>
          <a:p>
            <a:pPr algn="l">
              <a:lnSpc>
                <a:spcPts val="6902"/>
              </a:lnSpc>
            </a:pPr>
            <a:r>
              <a:rPr lang="en-US" sz="4313" spc="647">
                <a:solidFill>
                  <a:srgbClr val="000000"/>
                </a:solidFill>
                <a:latin typeface="Arial"/>
                <a:ea typeface="Arial"/>
                <a:cs typeface="Arial"/>
                <a:sym typeface="Arial"/>
              </a:rPr>
              <a:t>1.3 strand</a:t>
            </a:r>
          </a:p>
          <a:p>
            <a:pPr algn="l" marL="0" indent="0" lvl="0">
              <a:lnSpc>
                <a:spcPts val="822"/>
              </a:lnSpc>
            </a:pPr>
          </a:p>
        </p:txBody>
      </p:sp>
      <p:sp>
        <p:nvSpPr>
          <p:cNvPr name="Freeform 11" id="11"/>
          <p:cNvSpPr/>
          <p:nvPr/>
        </p:nvSpPr>
        <p:spPr>
          <a:xfrm flipH="false" flipV="false" rot="0">
            <a:off x="705855" y="383752"/>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671336"/>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596870"/>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CONCLUSION</a:t>
            </a:r>
          </a:p>
        </p:txBody>
      </p:sp>
      <p:sp>
        <p:nvSpPr>
          <p:cNvPr name="TextBox 10" id="10"/>
          <p:cNvSpPr txBox="true"/>
          <p:nvPr/>
        </p:nvSpPr>
        <p:spPr>
          <a:xfrm rot="0">
            <a:off x="705855" y="2292195"/>
            <a:ext cx="15424354" cy="7571758"/>
          </a:xfrm>
          <a:prstGeom prst="rect">
            <a:avLst/>
          </a:prstGeom>
        </p:spPr>
        <p:txBody>
          <a:bodyPr anchor="t" rtlCol="false" tIns="0" lIns="0" bIns="0" rIns="0">
            <a:spAutoFit/>
          </a:bodyPr>
          <a:lstStyle/>
          <a:p>
            <a:pPr algn="l" marL="0" indent="0" lvl="0">
              <a:lnSpc>
                <a:spcPts val="5408"/>
              </a:lnSpc>
            </a:pPr>
            <a:r>
              <a:rPr lang="en-US" sz="3380" spc="507">
                <a:solidFill>
                  <a:srgbClr val="000000"/>
                </a:solidFill>
                <a:latin typeface="Arial"/>
                <a:ea typeface="Arial"/>
                <a:cs typeface="Arial"/>
                <a:sym typeface="Arial"/>
              </a:rPr>
              <a:t>The study revealed that the Grade 12 students at Magalang Saint Nicolas School Corporation come from diverse backgrounds in terms of age, gender, and academic strand. Their career decisions are influenced by various factors, including their personal interests, societal expectations, and, most significantly, parental influence. While students' academic strands provide a foundation for their career paths, parental expectations often play a decisive role in shaping their final choices. Gender norms may also impact career preferences, with some students feeling pressure to pursue careers traditionally associated with their gender.</a:t>
            </a:r>
          </a:p>
        </p:txBody>
      </p:sp>
      <p:sp>
        <p:nvSpPr>
          <p:cNvPr name="Freeform 11" id="11"/>
          <p:cNvSpPr/>
          <p:nvPr/>
        </p:nvSpPr>
        <p:spPr>
          <a:xfrm flipH="false" flipV="false" rot="0">
            <a:off x="705855" y="403997"/>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647137"/>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482456"/>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RECOMMENDATION 1</a:t>
            </a:r>
          </a:p>
        </p:txBody>
      </p:sp>
      <p:sp>
        <p:nvSpPr>
          <p:cNvPr name="TextBox 10" id="10"/>
          <p:cNvSpPr txBox="true"/>
          <p:nvPr/>
        </p:nvSpPr>
        <p:spPr>
          <a:xfrm rot="0">
            <a:off x="705855" y="2066381"/>
            <a:ext cx="15692373" cy="7783670"/>
          </a:xfrm>
          <a:prstGeom prst="rect">
            <a:avLst/>
          </a:prstGeom>
        </p:spPr>
        <p:txBody>
          <a:bodyPr anchor="t" rtlCol="false" tIns="0" lIns="0" bIns="0" rIns="0">
            <a:spAutoFit/>
          </a:bodyPr>
          <a:lstStyle/>
          <a:p>
            <a:pPr algn="l" marL="0" indent="0" lvl="0">
              <a:lnSpc>
                <a:spcPts val="5622"/>
              </a:lnSpc>
            </a:pPr>
            <a:r>
              <a:rPr lang="en-US" sz="3513" spc="527">
                <a:solidFill>
                  <a:srgbClr val="000000"/>
                </a:solidFill>
                <a:latin typeface="Arial"/>
                <a:ea typeface="Arial"/>
                <a:cs typeface="Arial"/>
                <a:sym typeface="Arial"/>
              </a:rPr>
              <a:t>To ensure that students receive appropriate guidance, schools should implement career counseling programs that consider these demographic factors. Career guidance should be inclusive and tailored to help students explore career paths based on their individual strengths and interests rather than societal or parental expectations. Schools should also promote awareness of diverse career opportunities across all academic strands and encourage students to make well-informed decisions through career assessments, mentorship programs, and real-world exposure.</a:t>
            </a:r>
          </a:p>
        </p:txBody>
      </p:sp>
      <p:sp>
        <p:nvSpPr>
          <p:cNvPr name="Freeform 11" id="11"/>
          <p:cNvSpPr/>
          <p:nvPr/>
        </p:nvSpPr>
        <p:spPr>
          <a:xfrm flipH="false" flipV="false" rot="0">
            <a:off x="705855" y="379798"/>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942975"/>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868508"/>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STATEMENT OF THE PROBLEM</a:t>
            </a:r>
          </a:p>
        </p:txBody>
      </p:sp>
      <p:sp>
        <p:nvSpPr>
          <p:cNvPr name="TextBox 10" id="10"/>
          <p:cNvSpPr txBox="true"/>
          <p:nvPr/>
        </p:nvSpPr>
        <p:spPr>
          <a:xfrm rot="0">
            <a:off x="1028700" y="2577628"/>
            <a:ext cx="15101510" cy="4591287"/>
          </a:xfrm>
          <a:prstGeom prst="rect">
            <a:avLst/>
          </a:prstGeom>
        </p:spPr>
        <p:txBody>
          <a:bodyPr anchor="t" rtlCol="false" tIns="0" lIns="0" bIns="0" rIns="0">
            <a:spAutoFit/>
          </a:bodyPr>
          <a:lstStyle/>
          <a:p>
            <a:pPr algn="l">
              <a:lnSpc>
                <a:spcPts val="8182"/>
              </a:lnSpc>
            </a:pPr>
            <a:r>
              <a:rPr lang="en-US" sz="5113" spc="767">
                <a:solidFill>
                  <a:srgbClr val="000000"/>
                </a:solidFill>
                <a:latin typeface="Arial"/>
                <a:ea typeface="Arial"/>
                <a:cs typeface="Arial"/>
                <a:sym typeface="Arial"/>
              </a:rPr>
              <a:t>2. How do parental expectations shape the career choices of Grade 12 students at Magalang Saint Nicolas School Corporation?</a:t>
            </a:r>
          </a:p>
          <a:p>
            <a:pPr algn="l" marL="0" indent="0" lvl="0">
              <a:lnSpc>
                <a:spcPts val="2582"/>
              </a:lnSpc>
            </a:pPr>
          </a:p>
        </p:txBody>
      </p:sp>
      <p:sp>
        <p:nvSpPr>
          <p:cNvPr name="Freeform 11" id="11"/>
          <p:cNvSpPr/>
          <p:nvPr/>
        </p:nvSpPr>
        <p:spPr>
          <a:xfrm flipH="false" flipV="false" rot="0">
            <a:off x="705855" y="675636"/>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651442"/>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576975"/>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CONCLUSION</a:t>
            </a:r>
          </a:p>
        </p:txBody>
      </p:sp>
      <p:sp>
        <p:nvSpPr>
          <p:cNvPr name="TextBox 10" id="10"/>
          <p:cNvSpPr txBox="true"/>
          <p:nvPr/>
        </p:nvSpPr>
        <p:spPr>
          <a:xfrm rot="0">
            <a:off x="705855" y="2283069"/>
            <a:ext cx="15424354" cy="7353129"/>
          </a:xfrm>
          <a:prstGeom prst="rect">
            <a:avLst/>
          </a:prstGeom>
        </p:spPr>
        <p:txBody>
          <a:bodyPr anchor="t" rtlCol="false" tIns="0" lIns="0" bIns="0" rIns="0">
            <a:spAutoFit/>
          </a:bodyPr>
          <a:lstStyle/>
          <a:p>
            <a:pPr algn="l" marL="0" indent="0" lvl="0">
              <a:lnSpc>
                <a:spcPts val="7222"/>
              </a:lnSpc>
            </a:pPr>
            <a:r>
              <a:rPr lang="en-US" sz="4513" spc="677">
                <a:solidFill>
                  <a:srgbClr val="000000"/>
                </a:solidFill>
                <a:latin typeface="Arial"/>
                <a:ea typeface="Arial"/>
                <a:cs typeface="Arial"/>
                <a:sym typeface="Arial"/>
              </a:rPr>
              <a:t>The study confirms that parental expectations significantly influence students’ career paths, either as a source of motivation or as a form of pressure. While some students follow their parents' advice willingly, others may feel compelled to pursue careers they are not passionate about, leading to potential dissatisfaction.</a:t>
            </a:r>
          </a:p>
        </p:txBody>
      </p:sp>
      <p:sp>
        <p:nvSpPr>
          <p:cNvPr name="Freeform 11" id="11"/>
          <p:cNvSpPr/>
          <p:nvPr/>
        </p:nvSpPr>
        <p:spPr>
          <a:xfrm flipH="false" flipV="false" rot="0">
            <a:off x="705855" y="384102"/>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699067"/>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624600"/>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RECOMMENDATION 2</a:t>
            </a:r>
          </a:p>
        </p:txBody>
      </p:sp>
      <p:sp>
        <p:nvSpPr>
          <p:cNvPr name="TextBox 10" id="10"/>
          <p:cNvSpPr txBox="true"/>
          <p:nvPr/>
        </p:nvSpPr>
        <p:spPr>
          <a:xfrm rot="0">
            <a:off x="705855" y="2302119"/>
            <a:ext cx="15214804" cy="7108588"/>
          </a:xfrm>
          <a:prstGeom prst="rect">
            <a:avLst/>
          </a:prstGeom>
        </p:spPr>
        <p:txBody>
          <a:bodyPr anchor="t" rtlCol="false" tIns="0" lIns="0" bIns="0" rIns="0">
            <a:spAutoFit/>
          </a:bodyPr>
          <a:lstStyle/>
          <a:p>
            <a:pPr algn="l" marL="0" indent="0" lvl="0">
              <a:lnSpc>
                <a:spcPts val="8022"/>
              </a:lnSpc>
            </a:pPr>
            <a:r>
              <a:rPr lang="en-US" sz="5013" spc="752">
                <a:solidFill>
                  <a:srgbClr val="000000"/>
                </a:solidFill>
                <a:latin typeface="Arial"/>
                <a:ea typeface="Arial"/>
                <a:cs typeface="Arial"/>
                <a:sym typeface="Arial"/>
              </a:rPr>
              <a:t>Parents should provide guidance without imposing career choices, fostering open discussions to understand their child's interests. Schools can offer workshops to help parents support their child's independence while considering evolving career opportunities.</a:t>
            </a:r>
          </a:p>
        </p:txBody>
      </p:sp>
      <p:sp>
        <p:nvSpPr>
          <p:cNvPr name="Freeform 11" id="11"/>
          <p:cNvSpPr/>
          <p:nvPr/>
        </p:nvSpPr>
        <p:spPr>
          <a:xfrm flipH="false" flipV="false" rot="0">
            <a:off x="705855" y="431727"/>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942975"/>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868508"/>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STATEMENT OF THE PROBLEM</a:t>
            </a:r>
          </a:p>
        </p:txBody>
      </p:sp>
      <p:sp>
        <p:nvSpPr>
          <p:cNvPr name="TextBox 10" id="10"/>
          <p:cNvSpPr txBox="true"/>
          <p:nvPr/>
        </p:nvSpPr>
        <p:spPr>
          <a:xfrm rot="0">
            <a:off x="1028700" y="2453803"/>
            <a:ext cx="15101510" cy="6623852"/>
          </a:xfrm>
          <a:prstGeom prst="rect">
            <a:avLst/>
          </a:prstGeom>
        </p:spPr>
        <p:txBody>
          <a:bodyPr anchor="t" rtlCol="false" tIns="0" lIns="0" bIns="0" rIns="0">
            <a:spAutoFit/>
          </a:bodyPr>
          <a:lstStyle/>
          <a:p>
            <a:pPr algn="l">
              <a:lnSpc>
                <a:spcPts val="11381"/>
              </a:lnSpc>
            </a:pPr>
            <a:r>
              <a:rPr lang="en-US" sz="7113" spc="1067">
                <a:solidFill>
                  <a:srgbClr val="000000"/>
                </a:solidFill>
                <a:latin typeface="Arial"/>
                <a:ea typeface="Arial"/>
                <a:cs typeface="Arial"/>
                <a:sym typeface="Arial"/>
              </a:rPr>
              <a:t>3. What challenges arise when students’ career aspirations differ from their parents' expectations?</a:t>
            </a:r>
          </a:p>
          <a:p>
            <a:pPr algn="l" marL="0" indent="0" lvl="0">
              <a:lnSpc>
                <a:spcPts val="5782"/>
              </a:lnSpc>
            </a:pPr>
          </a:p>
        </p:txBody>
      </p:sp>
      <p:sp>
        <p:nvSpPr>
          <p:cNvPr name="Freeform 11" id="11"/>
          <p:cNvSpPr/>
          <p:nvPr/>
        </p:nvSpPr>
        <p:spPr>
          <a:xfrm flipH="false" flipV="false" rot="0">
            <a:off x="705855" y="675636"/>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857250"/>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782783"/>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CONCLUSION</a:t>
            </a:r>
          </a:p>
        </p:txBody>
      </p:sp>
      <p:sp>
        <p:nvSpPr>
          <p:cNvPr name="TextBox 10" id="10"/>
          <p:cNvSpPr txBox="true"/>
          <p:nvPr/>
        </p:nvSpPr>
        <p:spPr>
          <a:xfrm rot="0">
            <a:off x="705855" y="2469827"/>
            <a:ext cx="15424354" cy="6841828"/>
          </a:xfrm>
          <a:prstGeom prst="rect">
            <a:avLst/>
          </a:prstGeom>
        </p:spPr>
        <p:txBody>
          <a:bodyPr anchor="t" rtlCol="false" tIns="0" lIns="0" bIns="0" rIns="0">
            <a:spAutoFit/>
          </a:bodyPr>
          <a:lstStyle/>
          <a:p>
            <a:pPr algn="l" marL="0" indent="0" lvl="0">
              <a:lnSpc>
                <a:spcPts val="7702"/>
              </a:lnSpc>
            </a:pPr>
            <a:r>
              <a:rPr lang="en-US" sz="4813" spc="722">
                <a:solidFill>
                  <a:srgbClr val="000000"/>
                </a:solidFill>
                <a:latin typeface="Arial"/>
                <a:ea typeface="Arial"/>
                <a:cs typeface="Arial"/>
                <a:sym typeface="Arial"/>
              </a:rPr>
              <a:t>Discrepancies between students' career aspirations and parental expectations can lead to stress, anxiety, and strained relationships. Some students may feel pressured to sacrifice their true interests, while others may struggle with feelings of guilt or self-doubt.</a:t>
            </a:r>
          </a:p>
        </p:txBody>
      </p:sp>
      <p:sp>
        <p:nvSpPr>
          <p:cNvPr name="Freeform 11" id="11"/>
          <p:cNvSpPr/>
          <p:nvPr/>
        </p:nvSpPr>
        <p:spPr>
          <a:xfrm flipH="false" flipV="false" rot="0">
            <a:off x="705855" y="589911"/>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561536"/>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487069"/>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RECOMMENDATION 3</a:t>
            </a:r>
          </a:p>
        </p:txBody>
      </p:sp>
      <p:sp>
        <p:nvSpPr>
          <p:cNvPr name="TextBox 10" id="10"/>
          <p:cNvSpPr txBox="true"/>
          <p:nvPr/>
        </p:nvSpPr>
        <p:spPr>
          <a:xfrm rot="0">
            <a:off x="705855" y="2183638"/>
            <a:ext cx="15214804" cy="7656765"/>
          </a:xfrm>
          <a:prstGeom prst="rect">
            <a:avLst/>
          </a:prstGeom>
        </p:spPr>
        <p:txBody>
          <a:bodyPr anchor="t" rtlCol="false" tIns="0" lIns="0" bIns="0" rIns="0">
            <a:spAutoFit/>
          </a:bodyPr>
          <a:lstStyle/>
          <a:p>
            <a:pPr algn="l" marL="0" indent="0" lvl="0">
              <a:lnSpc>
                <a:spcPts val="7542"/>
              </a:lnSpc>
            </a:pPr>
            <a:r>
              <a:rPr lang="en-US" sz="4713" spc="707">
                <a:solidFill>
                  <a:srgbClr val="000000"/>
                </a:solidFill>
                <a:latin typeface="Arial"/>
                <a:ea typeface="Arial"/>
                <a:cs typeface="Arial"/>
                <a:sym typeface="Arial"/>
              </a:rPr>
              <a:t>Schools should provide psychological and emotional support through counseling services, stress management workshops, and peer support groups. Encouraging students and parents to engage in constructive conversations can help mitigate conflicts and promote mutual understanding.</a:t>
            </a:r>
          </a:p>
        </p:txBody>
      </p:sp>
      <p:sp>
        <p:nvSpPr>
          <p:cNvPr name="Freeform 11" id="11"/>
          <p:cNvSpPr/>
          <p:nvPr/>
        </p:nvSpPr>
        <p:spPr>
          <a:xfrm flipH="false" flipV="false" rot="0">
            <a:off x="705855" y="294197"/>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619125"/>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544658"/>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STATEMENT OF THE PROBLEM</a:t>
            </a:r>
          </a:p>
        </p:txBody>
      </p:sp>
      <p:sp>
        <p:nvSpPr>
          <p:cNvPr name="TextBox 10" id="10"/>
          <p:cNvSpPr txBox="true"/>
          <p:nvPr/>
        </p:nvSpPr>
        <p:spPr>
          <a:xfrm rot="0">
            <a:off x="1028700" y="1909509"/>
            <a:ext cx="15101510" cy="8456430"/>
          </a:xfrm>
          <a:prstGeom prst="rect">
            <a:avLst/>
          </a:prstGeom>
        </p:spPr>
        <p:txBody>
          <a:bodyPr anchor="t" rtlCol="false" tIns="0" lIns="0" bIns="0" rIns="0">
            <a:spAutoFit/>
          </a:bodyPr>
          <a:lstStyle/>
          <a:p>
            <a:pPr algn="l">
              <a:lnSpc>
                <a:spcPts val="11861"/>
              </a:lnSpc>
            </a:pPr>
            <a:r>
              <a:rPr lang="en-US" sz="7413" spc="1112">
                <a:solidFill>
                  <a:srgbClr val="000000"/>
                </a:solidFill>
                <a:latin typeface="Arial"/>
                <a:ea typeface="Arial"/>
                <a:cs typeface="Arial"/>
                <a:sym typeface="Arial"/>
              </a:rPr>
              <a:t>4. How can schools and families collaborate to support students in making informed and fulfilling career decisions?</a:t>
            </a:r>
          </a:p>
          <a:p>
            <a:pPr algn="l" marL="0" indent="0" lvl="0">
              <a:lnSpc>
                <a:spcPts val="6262"/>
              </a:lnSpc>
            </a:pPr>
          </a:p>
        </p:txBody>
      </p:sp>
      <p:sp>
        <p:nvSpPr>
          <p:cNvPr name="Freeform 11" id="11"/>
          <p:cNvSpPr/>
          <p:nvPr/>
        </p:nvSpPr>
        <p:spPr>
          <a:xfrm flipH="false" flipV="false" rot="0">
            <a:off x="705855" y="351786"/>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596964"/>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522497"/>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CONCLUSION</a:t>
            </a:r>
          </a:p>
        </p:txBody>
      </p:sp>
      <p:sp>
        <p:nvSpPr>
          <p:cNvPr name="TextBox 10" id="10"/>
          <p:cNvSpPr txBox="true"/>
          <p:nvPr/>
        </p:nvSpPr>
        <p:spPr>
          <a:xfrm rot="0">
            <a:off x="705855" y="2228591"/>
            <a:ext cx="15424354" cy="7500184"/>
          </a:xfrm>
          <a:prstGeom prst="rect">
            <a:avLst/>
          </a:prstGeom>
        </p:spPr>
        <p:txBody>
          <a:bodyPr anchor="t" rtlCol="false" tIns="0" lIns="0" bIns="0" rIns="0">
            <a:spAutoFit/>
          </a:bodyPr>
          <a:lstStyle/>
          <a:p>
            <a:pPr algn="l" marL="0" indent="0" lvl="0">
              <a:lnSpc>
                <a:spcPts val="7382"/>
              </a:lnSpc>
            </a:pPr>
            <a:r>
              <a:rPr lang="en-US" sz="4613" spc="692">
                <a:solidFill>
                  <a:srgbClr val="000000"/>
                </a:solidFill>
                <a:latin typeface="Arial"/>
                <a:ea typeface="Arial"/>
                <a:cs typeface="Arial"/>
                <a:sym typeface="Arial"/>
              </a:rPr>
              <a:t>The study highlights the importance of collaboration between schools and families in guiding students toward well-informed and satisfying career choices. Open communication, career exploration opportunities, and parental support play crucial roles in ensuring students feel confident in their decisions.</a:t>
            </a:r>
          </a:p>
        </p:txBody>
      </p:sp>
      <p:sp>
        <p:nvSpPr>
          <p:cNvPr name="Freeform 11" id="11"/>
          <p:cNvSpPr/>
          <p:nvPr/>
        </p:nvSpPr>
        <p:spPr>
          <a:xfrm flipH="false" flipV="false" rot="0">
            <a:off x="705855" y="329625"/>
            <a:ext cx="1131346" cy="1131346"/>
          </a:xfrm>
          <a:custGeom>
            <a:avLst/>
            <a:gdLst/>
            <a:ahLst/>
            <a:cxnLst/>
            <a:rect r="r" b="b" t="t" l="l"/>
            <a:pathLst>
              <a:path h="1131346" w="1131346">
                <a:moveTo>
                  <a:pt x="0" y="0"/>
                </a:moveTo>
                <a:lnTo>
                  <a:pt x="1131346" y="0"/>
                </a:lnTo>
                <a:lnTo>
                  <a:pt x="1131346" y="1131345"/>
                </a:lnTo>
                <a:lnTo>
                  <a:pt x="0" y="1131345"/>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30210" y="0"/>
            <a:ext cx="1298512" cy="4569961"/>
            <a:chOff x="0" y="0"/>
            <a:chExt cx="341995" cy="1203611"/>
          </a:xfrm>
        </p:grpSpPr>
        <p:sp>
          <p:nvSpPr>
            <p:cNvPr name="Freeform 3" id="3"/>
            <p:cNvSpPr/>
            <p:nvPr/>
          </p:nvSpPr>
          <p:spPr>
            <a:xfrm flipH="false" flipV="false" rot="0">
              <a:off x="0" y="0"/>
              <a:ext cx="341995" cy="1203611"/>
            </a:xfrm>
            <a:custGeom>
              <a:avLst/>
              <a:gdLst/>
              <a:ahLst/>
              <a:cxnLst/>
              <a:rect r="r" b="b" t="t" l="l"/>
              <a:pathLst>
                <a:path h="1203611" w="341995">
                  <a:moveTo>
                    <a:pt x="0" y="0"/>
                  </a:moveTo>
                  <a:lnTo>
                    <a:pt x="341995" y="0"/>
                  </a:lnTo>
                  <a:lnTo>
                    <a:pt x="341995" y="1203611"/>
                  </a:lnTo>
                  <a:lnTo>
                    <a:pt x="0" y="1203611"/>
                  </a:lnTo>
                  <a:close/>
                </a:path>
              </a:pathLst>
            </a:custGeom>
            <a:solidFill>
              <a:srgbClr val="EEEEEE"/>
            </a:solidFill>
          </p:spPr>
        </p:sp>
        <p:sp>
          <p:nvSpPr>
            <p:cNvPr name="TextBox 4" id="4"/>
            <p:cNvSpPr txBox="true"/>
            <p:nvPr/>
          </p:nvSpPr>
          <p:spPr>
            <a:xfrm>
              <a:off x="0" y="-38100"/>
              <a:ext cx="341995" cy="1241711"/>
            </a:xfrm>
            <a:prstGeom prst="rect">
              <a:avLst/>
            </a:prstGeom>
          </p:spPr>
          <p:txBody>
            <a:bodyPr anchor="ctr" rtlCol="false" tIns="50800" lIns="50800" bIns="50800" rIns="50800"/>
            <a:lstStyle/>
            <a:p>
              <a:pPr algn="ctr">
                <a:lnSpc>
                  <a:spcPts val="3360"/>
                </a:lnSpc>
              </a:pPr>
            </a:p>
          </p:txBody>
        </p:sp>
      </p:grpSp>
      <p:grpSp>
        <p:nvGrpSpPr>
          <p:cNvPr name="Group 5" id="5"/>
          <p:cNvGrpSpPr/>
          <p:nvPr/>
        </p:nvGrpSpPr>
        <p:grpSpPr>
          <a:xfrm rot="0">
            <a:off x="17638744" y="0"/>
            <a:ext cx="1298512" cy="6395085"/>
            <a:chOff x="0" y="0"/>
            <a:chExt cx="341995" cy="1684302"/>
          </a:xfrm>
        </p:grpSpPr>
        <p:sp>
          <p:nvSpPr>
            <p:cNvPr name="Freeform 6" id="6"/>
            <p:cNvSpPr/>
            <p:nvPr/>
          </p:nvSpPr>
          <p:spPr>
            <a:xfrm flipH="false" flipV="false" rot="0">
              <a:off x="0" y="0"/>
              <a:ext cx="341995" cy="1684302"/>
            </a:xfrm>
            <a:custGeom>
              <a:avLst/>
              <a:gdLst/>
              <a:ahLst/>
              <a:cxnLst/>
              <a:rect r="r" b="b" t="t" l="l"/>
              <a:pathLst>
                <a:path h="1684302" w="341995">
                  <a:moveTo>
                    <a:pt x="0" y="0"/>
                  </a:moveTo>
                  <a:lnTo>
                    <a:pt x="341995" y="0"/>
                  </a:lnTo>
                  <a:lnTo>
                    <a:pt x="341995" y="1684302"/>
                  </a:lnTo>
                  <a:lnTo>
                    <a:pt x="0" y="1684302"/>
                  </a:lnTo>
                  <a:close/>
                </a:path>
              </a:pathLst>
            </a:custGeom>
            <a:solidFill>
              <a:srgbClr val="EEEEEE"/>
            </a:solidFill>
          </p:spPr>
        </p:sp>
        <p:sp>
          <p:nvSpPr>
            <p:cNvPr name="TextBox 7" id="7"/>
            <p:cNvSpPr txBox="true"/>
            <p:nvPr/>
          </p:nvSpPr>
          <p:spPr>
            <a:xfrm>
              <a:off x="0" y="-38100"/>
              <a:ext cx="341995" cy="1722402"/>
            </a:xfrm>
            <a:prstGeom prst="rect">
              <a:avLst/>
            </a:prstGeom>
          </p:spPr>
          <p:txBody>
            <a:bodyPr anchor="ctr" rtlCol="false" tIns="50800" lIns="50800" bIns="50800" rIns="50800"/>
            <a:lstStyle/>
            <a:p>
              <a:pPr algn="ctr">
                <a:lnSpc>
                  <a:spcPts val="3360"/>
                </a:lnSpc>
              </a:pPr>
            </a:p>
          </p:txBody>
        </p:sp>
      </p:grpSp>
      <p:sp>
        <p:nvSpPr>
          <p:cNvPr name="TextBox 8" id="8"/>
          <p:cNvSpPr txBox="true"/>
          <p:nvPr/>
        </p:nvSpPr>
        <p:spPr>
          <a:xfrm rot="0">
            <a:off x="1837201" y="576582"/>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
        <p:nvSpPr>
          <p:cNvPr name="TextBox 9" id="9"/>
          <p:cNvSpPr txBox="true"/>
          <p:nvPr/>
        </p:nvSpPr>
        <p:spPr>
          <a:xfrm rot="0">
            <a:off x="705855" y="1411901"/>
            <a:ext cx="12858020" cy="793475"/>
          </a:xfrm>
          <a:prstGeom prst="rect">
            <a:avLst/>
          </a:prstGeom>
        </p:spPr>
        <p:txBody>
          <a:bodyPr anchor="t" rtlCol="false" tIns="0" lIns="0" bIns="0" rIns="0">
            <a:spAutoFit/>
          </a:bodyPr>
          <a:lstStyle/>
          <a:p>
            <a:pPr algn="l" marL="0" indent="0" lvl="0">
              <a:lnSpc>
                <a:spcPts val="5990"/>
              </a:lnSpc>
            </a:pPr>
            <a:r>
              <a:rPr lang="en-US" b="true" sz="6305" spc="252">
                <a:solidFill>
                  <a:srgbClr val="000000"/>
                </a:solidFill>
                <a:latin typeface="Roboto Mono Bold"/>
                <a:ea typeface="Roboto Mono Bold"/>
                <a:cs typeface="Roboto Mono Bold"/>
                <a:sym typeface="Roboto Mono Bold"/>
              </a:rPr>
              <a:t>RECOMMENDATION 4</a:t>
            </a:r>
          </a:p>
        </p:txBody>
      </p:sp>
      <p:sp>
        <p:nvSpPr>
          <p:cNvPr name="TextBox 10" id="10"/>
          <p:cNvSpPr txBox="true"/>
          <p:nvPr/>
        </p:nvSpPr>
        <p:spPr>
          <a:xfrm rot="0">
            <a:off x="705855" y="1996170"/>
            <a:ext cx="15214804" cy="7924437"/>
          </a:xfrm>
          <a:prstGeom prst="rect">
            <a:avLst/>
          </a:prstGeom>
        </p:spPr>
        <p:txBody>
          <a:bodyPr anchor="t" rtlCol="false" tIns="0" lIns="0" bIns="0" rIns="0">
            <a:spAutoFit/>
          </a:bodyPr>
          <a:lstStyle/>
          <a:p>
            <a:pPr algn="l" marL="0" indent="0" lvl="0">
              <a:lnSpc>
                <a:spcPts val="6902"/>
              </a:lnSpc>
            </a:pPr>
            <a:r>
              <a:rPr lang="en-US" sz="4313" spc="647">
                <a:solidFill>
                  <a:srgbClr val="000000"/>
                </a:solidFill>
                <a:latin typeface="Arial"/>
                <a:ea typeface="Arial"/>
                <a:cs typeface="Arial"/>
                <a:sym typeface="Arial"/>
              </a:rPr>
              <a:t>Schools should create structured platforms for career planning, such as career fairs, mentorship programs, and regular parent-teacher-student meetings. Providing opportunities for students to engage in real-world experiences, such as internships and job shadowing, can also help bridge the gap between parental expectations and students' aspirations.</a:t>
            </a:r>
          </a:p>
        </p:txBody>
      </p:sp>
      <p:sp>
        <p:nvSpPr>
          <p:cNvPr name="Freeform 11" id="11"/>
          <p:cNvSpPr/>
          <p:nvPr/>
        </p:nvSpPr>
        <p:spPr>
          <a:xfrm flipH="false" flipV="false" rot="0">
            <a:off x="705855" y="309243"/>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118659"/>
            <a:ext cx="16230600" cy="985345"/>
          </a:xfrm>
          <a:prstGeom prst="rect">
            <a:avLst/>
          </a:prstGeom>
        </p:spPr>
        <p:txBody>
          <a:bodyPr anchor="t" rtlCol="false" tIns="0" lIns="0" bIns="0" rIns="0">
            <a:spAutoFit/>
          </a:bodyPr>
          <a:lstStyle/>
          <a:p>
            <a:pPr algn="ctr" marL="0" indent="0" lvl="0">
              <a:lnSpc>
                <a:spcPts val="7252"/>
              </a:lnSpc>
            </a:pPr>
            <a:r>
              <a:rPr lang="en-US" b="true" sz="7634" spc="305">
                <a:solidFill>
                  <a:srgbClr val="000000"/>
                </a:solidFill>
                <a:latin typeface="Roboto Mono Bold"/>
                <a:ea typeface="Roboto Mono Bold"/>
                <a:cs typeface="Roboto Mono Bold"/>
                <a:sym typeface="Roboto Mono Bold"/>
              </a:rPr>
              <a:t>REFERENCES</a:t>
            </a:r>
          </a:p>
        </p:txBody>
      </p:sp>
      <p:sp>
        <p:nvSpPr>
          <p:cNvPr name="TextBox 3" id="3"/>
          <p:cNvSpPr txBox="true"/>
          <p:nvPr/>
        </p:nvSpPr>
        <p:spPr>
          <a:xfrm rot="0">
            <a:off x="416210" y="1854250"/>
            <a:ext cx="17455579" cy="8575530"/>
          </a:xfrm>
          <a:prstGeom prst="rect">
            <a:avLst/>
          </a:prstGeom>
        </p:spPr>
        <p:txBody>
          <a:bodyPr anchor="t" rtlCol="false" tIns="0" lIns="0" bIns="0" rIns="0">
            <a:spAutoFit/>
          </a:bodyPr>
          <a:lstStyle/>
          <a:p>
            <a:pPr algn="ctr">
              <a:lnSpc>
                <a:spcPts val="2240"/>
              </a:lnSpc>
            </a:pPr>
            <a:r>
              <a:rPr lang="en-US" sz="1400" spc="210">
                <a:solidFill>
                  <a:srgbClr val="000000"/>
                </a:solidFill>
                <a:latin typeface="Arial"/>
                <a:ea typeface="Arial"/>
                <a:cs typeface="Arial"/>
                <a:sym typeface="Arial"/>
              </a:rPr>
              <a:t> Gudoy, K., Marinas, R. J., Pecson Jr., R., Soloria, L. R., &amp; Urmanita, L. A. (2024). Parental Influence in the Career Choices of STEM Strand Grade 12 Senior High School Students. The GLOW. </a:t>
            </a:r>
          </a:p>
          <a:p>
            <a:pPr algn="ctr">
              <a:lnSpc>
                <a:spcPts val="2240"/>
              </a:lnSpc>
            </a:pPr>
            <a:r>
              <a:rPr lang="en-US" sz="1400" spc="210">
                <a:solidFill>
                  <a:srgbClr val="000000"/>
                </a:solidFill>
                <a:latin typeface="Arial"/>
                <a:ea typeface="Arial"/>
                <a:cs typeface="Arial"/>
                <a:sym typeface="Arial"/>
              </a:rPr>
              <a:t> Lao, L. S., Pecson, J. B., Tejada, C. R., &amp; Todino, K. K. (2019). Ayon kay nanay at tatay ...: perceived parental involvement on career decision-making of Filipino senior high school students. De La Salle University. </a:t>
            </a:r>
          </a:p>
          <a:p>
            <a:pPr algn="ctr">
              <a:lnSpc>
                <a:spcPts val="2240"/>
              </a:lnSpc>
            </a:pPr>
            <a:r>
              <a:rPr lang="en-US" sz="1400" spc="210">
                <a:solidFill>
                  <a:srgbClr val="000000"/>
                </a:solidFill>
                <a:latin typeface="Arial"/>
                <a:ea typeface="Arial"/>
                <a:cs typeface="Arial"/>
                <a:sym typeface="Arial"/>
              </a:rPr>
              <a:t> Daga-ang, C. A., Daga-ang, J. A., &amp; Daga-ang, M. A. (2023). Parent Career Behavior and Career Decision Making Self-Efficacy Among Senior High School Students. ResearchGate. </a:t>
            </a:r>
          </a:p>
          <a:p>
            <a:pPr algn="ctr">
              <a:lnSpc>
                <a:spcPts val="2240"/>
              </a:lnSpc>
            </a:pPr>
            <a:r>
              <a:rPr lang="en-US" sz="1400" spc="210">
                <a:solidFill>
                  <a:srgbClr val="000000"/>
                </a:solidFill>
                <a:latin typeface="Arial"/>
                <a:ea typeface="Arial"/>
                <a:cs typeface="Arial"/>
                <a:sym typeface="Arial"/>
              </a:rPr>
              <a:t> Philippine Journal of Science. (2021). Factors Associated with Career Track Choice of Senior High School Students in the Philippines. </a:t>
            </a:r>
          </a:p>
          <a:p>
            <a:pPr algn="ctr">
              <a:lnSpc>
                <a:spcPts val="2240"/>
              </a:lnSpc>
            </a:pPr>
            <a:r>
              <a:rPr lang="en-US" sz="1400" spc="210">
                <a:solidFill>
                  <a:srgbClr val="000000"/>
                </a:solidFill>
                <a:latin typeface="Arial"/>
                <a:ea typeface="Arial"/>
                <a:cs typeface="Arial"/>
                <a:sym typeface="Arial"/>
              </a:rPr>
              <a:t> Alabata, J. A., Alabata, R. A., &amp; Alabata, S. A. (2024). The Involvement of Parents in The Career Choice of Grade 12 Students. International Journal of Advanced Multidisciplinary </a:t>
            </a:r>
            <a:r>
              <a:rPr lang="en-US" sz="1400" spc="210">
                <a:solidFill>
                  <a:srgbClr val="000000"/>
                </a:solidFill>
                <a:latin typeface="Arial"/>
                <a:ea typeface="Arial"/>
                <a:cs typeface="Arial"/>
                <a:sym typeface="Arial"/>
              </a:rPr>
              <a:t>Studies. </a:t>
            </a:r>
          </a:p>
          <a:p>
            <a:pPr algn="ctr">
              <a:lnSpc>
                <a:spcPts val="2240"/>
              </a:lnSpc>
            </a:pPr>
            <a:r>
              <a:rPr lang="en-US" sz="1400" spc="210">
                <a:solidFill>
                  <a:srgbClr val="000000"/>
                </a:solidFill>
                <a:latin typeface="Arial"/>
                <a:ea typeface="Arial"/>
                <a:cs typeface="Arial"/>
                <a:sym typeface="Arial"/>
              </a:rPr>
              <a:t> Baldon, D. M., Dela Cerna, R., Sotes, A. J., Enriquez, C. F., &amp; Bacatan, J. (2023). Parent Career Behavior and Career Decision Making Self-Efficacy Among Senior High School Students. International Journal of Multidisciplinary Research and Publications (IJMRAP), 6(5), 80-86.</a:t>
            </a:r>
          </a:p>
          <a:p>
            <a:pPr algn="ctr">
              <a:lnSpc>
                <a:spcPts val="2240"/>
              </a:lnSpc>
            </a:pPr>
            <a:r>
              <a:rPr lang="en-US" sz="1400" spc="210">
                <a:solidFill>
                  <a:srgbClr val="000000"/>
                </a:solidFill>
                <a:latin typeface="Arial"/>
                <a:ea typeface="Arial"/>
                <a:cs typeface="Arial"/>
                <a:sym typeface="Arial"/>
              </a:rPr>
              <a:t> Din, M. U., Rana, U. K., Maqbool, S., Din, J. R., Hazyefa, M., &amp; Raza, M. A. (2022). Parents influence on career choice of medical undergraduates. The Professional Medical Journal, 29(08), 1268-1274.</a:t>
            </a:r>
          </a:p>
          <a:p>
            <a:pPr algn="ctr">
              <a:lnSpc>
                <a:spcPts val="2240"/>
              </a:lnSpc>
            </a:pPr>
            <a:r>
              <a:rPr lang="en-US" sz="1400" spc="210">
                <a:solidFill>
                  <a:srgbClr val="000000"/>
                </a:solidFill>
                <a:latin typeface="Arial"/>
                <a:ea typeface="Arial"/>
                <a:cs typeface="Arial"/>
                <a:sym typeface="Arial"/>
              </a:rPr>
              <a:t> Jabar, M. A. (2021). Qualitative inquiry on parental involvement in children’s education: perspectives of parents, children, and teachers in select elementary schools in the Philippines. Asia Pacific Journal of Education, 41(3), 488-502.</a:t>
            </a:r>
          </a:p>
          <a:p>
            <a:pPr algn="ctr">
              <a:lnSpc>
                <a:spcPts val="2240"/>
              </a:lnSpc>
            </a:pPr>
            <a:r>
              <a:rPr lang="en-US" sz="1400" spc="210">
                <a:solidFill>
                  <a:srgbClr val="000000"/>
                </a:solidFill>
                <a:latin typeface="Arial"/>
                <a:ea typeface="Arial"/>
                <a:cs typeface="Arial"/>
                <a:sym typeface="Arial"/>
              </a:rPr>
              <a:t> Tus, J. (2021). Amidst the online learning in the Philippines: the parental involvement and its relationship to the student's academic performance. International Engineering Journal for Research &amp; Development, 6(3), 1-15.</a:t>
            </a:r>
          </a:p>
          <a:p>
            <a:pPr algn="ctr">
              <a:lnSpc>
                <a:spcPts val="2240"/>
              </a:lnSpc>
            </a:pPr>
            <a:r>
              <a:rPr lang="en-US" sz="1400" spc="210">
                <a:solidFill>
                  <a:srgbClr val="000000"/>
                </a:solidFill>
                <a:latin typeface="Arial"/>
                <a:ea typeface="Arial"/>
                <a:cs typeface="Arial"/>
                <a:sym typeface="Arial"/>
              </a:rPr>
              <a:t> P.A. Creed et al.Career barriers and reading ability as correlates of career aspirations and expectations of parents and their children Journal of Vocational Behavior(2007)</a:t>
            </a:r>
          </a:p>
          <a:p>
            <a:pPr algn="ctr">
              <a:lnSpc>
                <a:spcPts val="2240"/>
              </a:lnSpc>
            </a:pPr>
            <a:r>
              <a:rPr lang="en-US" sz="1400" spc="210">
                <a:solidFill>
                  <a:srgbClr val="000000"/>
                </a:solidFill>
                <a:latin typeface="Arial"/>
                <a:ea typeface="Arial"/>
                <a:cs typeface="Arial"/>
                <a:sym typeface="Arial"/>
              </a:rPr>
              <a:t> J.S. Hannah et al. The relationship of socioeconomic status and gender to the occupational choices of Grade 12 students Journal of Vocational Behavior (2019)</a:t>
            </a:r>
          </a:p>
          <a:p>
            <a:pPr algn="ctr">
              <a:lnSpc>
                <a:spcPts val="2240"/>
              </a:lnSpc>
            </a:pPr>
            <a:r>
              <a:rPr lang="en-US" sz="1400" spc="210">
                <a:solidFill>
                  <a:srgbClr val="000000"/>
                </a:solidFill>
                <a:latin typeface="Arial"/>
                <a:ea typeface="Arial"/>
                <a:cs typeface="Arial"/>
                <a:sym typeface="Arial"/>
              </a:rPr>
              <a:t> J. Heckhausen et al. Get an apprenticeship before school is out: How German adolescents adjust vocational aspirations when getting close to developmental deadline Journal of Vocational Behavior (2015)</a:t>
            </a:r>
          </a:p>
          <a:p>
            <a:pPr algn="ctr">
              <a:lnSpc>
                <a:spcPts val="2240"/>
              </a:lnSpc>
            </a:pPr>
            <a:r>
              <a:rPr lang="en-US" sz="1400" spc="210">
                <a:solidFill>
                  <a:srgbClr val="000000"/>
                </a:solidFill>
                <a:latin typeface="Arial"/>
                <a:ea typeface="Arial"/>
                <a:cs typeface="Arial"/>
                <a:sym typeface="Arial"/>
              </a:rPr>
              <a:t> Polytechnic University of the Philippines. (2024). The Impact of Parental Pressure on the Grade 12 Students' Career Choices. Journal of Student Research, 10(2), 112-125. </a:t>
            </a:r>
          </a:p>
          <a:p>
            <a:pPr algn="ctr">
              <a:lnSpc>
                <a:spcPts val="2240"/>
              </a:lnSpc>
            </a:pPr>
            <a:r>
              <a:rPr lang="en-US" sz="1400" spc="210">
                <a:solidFill>
                  <a:srgbClr val="000000"/>
                </a:solidFill>
                <a:latin typeface="Arial"/>
                <a:ea typeface="Arial"/>
                <a:cs typeface="Arial"/>
                <a:sym typeface="Arial"/>
              </a:rPr>
              <a:t> Anas, E. M., Dela Cruz, J. P., &amp; Santos, M. R. (2020). Impact of Parental Expectations on Senior High School Students' Academic Achievement. Journal of Educational Research, 25(3), 456-470</a:t>
            </a:r>
          </a:p>
          <a:p>
            <a:pPr algn="ctr">
              <a:lnSpc>
                <a:spcPts val="2240"/>
              </a:lnSpc>
            </a:pPr>
            <a:r>
              <a:rPr lang="en-US" sz="1400" spc="210">
                <a:solidFill>
                  <a:srgbClr val="000000"/>
                </a:solidFill>
                <a:latin typeface="Arial"/>
                <a:ea typeface="Arial"/>
                <a:cs typeface="Arial"/>
                <a:sym typeface="Arial"/>
              </a:rPr>
              <a:t> Lupig, G. (2023). Parental Involvement and Expectations: Its Relation to the Academic Performance, Behavior, and Aspirations of Students in Technology and Livelihood Education. Psychology and Education: A Multidisciplinary Journal, 10(1), 138-146</a:t>
            </a:r>
          </a:p>
          <a:p>
            <a:pPr algn="ctr">
              <a:lnSpc>
                <a:spcPts val="2240"/>
              </a:lnSpc>
            </a:pPr>
            <a:r>
              <a:rPr lang="en-US" sz="1400" spc="210">
                <a:solidFill>
                  <a:srgbClr val="000000"/>
                </a:solidFill>
                <a:latin typeface="Arial"/>
                <a:ea typeface="Arial"/>
                <a:cs typeface="Arial"/>
                <a:sym typeface="Arial"/>
              </a:rPr>
              <a:t> Garcia, D. M., &amp; Perez, A. B. (2019). Parental expectations and student motivation: A case study in Philippine senior high schools. Journal of Educational Development, 41(6), 112-120</a:t>
            </a:r>
          </a:p>
          <a:p>
            <a:pPr algn="ctr" marL="0" indent="0" lvl="0">
              <a:lnSpc>
                <a:spcPts val="2240"/>
              </a:lnSpc>
            </a:pPr>
          </a:p>
        </p:txBody>
      </p:sp>
      <p:sp>
        <p:nvSpPr>
          <p:cNvPr name="Freeform 4" id="4"/>
          <p:cNvSpPr/>
          <p:nvPr/>
        </p:nvSpPr>
        <p:spPr>
          <a:xfrm flipH="false" flipV="false" rot="0">
            <a:off x="17654358" y="8159477"/>
            <a:ext cx="418011" cy="1732690"/>
          </a:xfrm>
          <a:custGeom>
            <a:avLst/>
            <a:gdLst/>
            <a:ahLst/>
            <a:cxnLst/>
            <a:rect r="r" b="b" t="t" l="l"/>
            <a:pathLst>
              <a:path h="1732690" w="418011">
                <a:moveTo>
                  <a:pt x="0" y="0"/>
                </a:moveTo>
                <a:lnTo>
                  <a:pt x="418011" y="0"/>
                </a:lnTo>
                <a:lnTo>
                  <a:pt x="418011" y="1732690"/>
                </a:lnTo>
                <a:lnTo>
                  <a:pt x="0" y="1732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58255" y="276010"/>
            <a:ext cx="1131346" cy="1131346"/>
          </a:xfrm>
          <a:custGeom>
            <a:avLst/>
            <a:gdLst/>
            <a:ahLst/>
            <a:cxnLst/>
            <a:rect r="r" b="b" t="t" l="l"/>
            <a:pathLst>
              <a:path h="1131346" w="1131346">
                <a:moveTo>
                  <a:pt x="0" y="0"/>
                </a:moveTo>
                <a:lnTo>
                  <a:pt x="1131346" y="0"/>
                </a:lnTo>
                <a:lnTo>
                  <a:pt x="1131346" y="1131346"/>
                </a:lnTo>
                <a:lnTo>
                  <a:pt x="0" y="1131346"/>
                </a:lnTo>
                <a:lnTo>
                  <a:pt x="0" y="0"/>
                </a:lnTo>
                <a:close/>
              </a:path>
            </a:pathLst>
          </a:custGeom>
          <a:blipFill>
            <a:blip r:embed="rId4"/>
            <a:stretch>
              <a:fillRect l="0" t="0" r="0" b="0"/>
            </a:stretch>
          </a:blipFill>
        </p:spPr>
      </p:sp>
      <p:sp>
        <p:nvSpPr>
          <p:cNvPr name="TextBox 6" id="6"/>
          <p:cNvSpPr txBox="true"/>
          <p:nvPr/>
        </p:nvSpPr>
        <p:spPr>
          <a:xfrm rot="0">
            <a:off x="1989601" y="543349"/>
            <a:ext cx="8253713" cy="403860"/>
          </a:xfrm>
          <a:prstGeom prst="rect">
            <a:avLst/>
          </a:prstGeom>
        </p:spPr>
        <p:txBody>
          <a:bodyPr anchor="t" rtlCol="false" tIns="0" lIns="0" bIns="0" rIns="0">
            <a:spAutoFit/>
          </a:bodyPr>
          <a:lstStyle/>
          <a:p>
            <a:pPr algn="l" marL="0" indent="0" lvl="0">
              <a:lnSpc>
                <a:spcPts val="2940"/>
              </a:lnSpc>
              <a:spcBef>
                <a:spcPct val="0"/>
              </a:spcBef>
            </a:pPr>
            <a:r>
              <a:rPr lang="en-US" sz="2100" spc="315">
                <a:solidFill>
                  <a:srgbClr val="000000"/>
                </a:solidFill>
                <a:latin typeface="Arial"/>
                <a:ea typeface="Arial"/>
                <a:cs typeface="Arial"/>
                <a:sym typeface="Arial"/>
              </a:rPr>
              <a:t>Magalang Saint Nicolas School Corporation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DAGYBBMh57s</dc:identifier>
  <dcterms:modified xsi:type="dcterms:W3CDTF">2011-08-01T06:04:30Z</dcterms:modified>
  <cp:revision>1</cp:revision>
  <dc:title>Impact of Tardiness and Demotivation on Grade 11 Academic Performance at Magalang Saint Nicolas School Corporation</dc:title>
</cp:coreProperties>
</file>